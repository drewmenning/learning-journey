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Drew Menning. This is my AAI201 capstone. I built a binary classifier that predicts whether an industrial machine is about to fail, using the AI4I 2020 predictive maintenance dataset from UCI. Over the next four minutes I'll walk through the problem, the data, what I built, the results on a held-out test set, one real fairness issue I found, and what I'd do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Predictive maintenance matters because unplanned downtime is expensive. The model here is a binary classifier: failure or no failure. The dataset is the AI4I 2020 synthetic predictive-maintenance set from UCI, with ten thousand rows and a 3.4 percent positive rate. That imbalance is the single most important thing to call out, because a naive model that always predicts no-failure scores 96.6 percent accuracy and is completely useless. I dropped two ID columns and the five per-mode failure indicators, since those leak the binary target. Eight features remain.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up from simple to complex. Logistic regression and a depth-limited decision tree gave me a floor. Then Random Forest and HistGradientBoosting as the ensembles. The first three use balanced class weights to address the 3.4 percent failure rate; the booster has none and relies on the tuned threshold. The boosting model uses validation-based early stopping, which addresses my proposal feedback about avoiding leakage in early stopping. I deliberately did not use SMOTE; the dataset is already synthetic, so synthesizing minority samples on top would just compound the same modeling assumptions twice. For the failure decision threshold I chose the value that maximizes F1 on the validation set, then applied it unchanged to the test set. And I checked fairness across the three product quality grades.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Five-fold cross-validation on PR-AUC. Logistic regression and decision tree are the baselines, and you can see ensembles pull ahead. HistGradientBoosting wins with a mean PR-AUC of 0.759 and a standard deviation of 0.026, well ahead of Random Forest at 0.675. I'm using PR-AUC instead of ROC-AUC because at 3.4 percent positive rate, ROC-AUC stays high almost by default. PR-AUC is the metric that actually penalizes a model for missing failures.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held-out test set the gradient booster gets PR-AUC 0.882 with recall 0.80 and precision 0.91. F1 is 0.85. Accuracy is 0.99 but accuracy is not the right metric here, so I keep it on the side. The threshold I used is 0.496, chosen by maximizing F1 on the validation set and then applied unchanged to the test set. The confusion matrix tells the operational story: out of 51 real failures in the test set, the model caught 41 and missed 10. Of the 1449 non-failures, only 4 got flagged. So a maintenance team using this model would investigate 45 cases to catch 41 actual failures, which is a workable false-alarm 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 The proposal asked me to compare performance across product quality types, L, M, and H. On L and M the model is fine, recall around 65 to 70 percent. On Type H the model has zero recall. It caught zero of four real failures. The reason is data scale: H is only about six percent of the dataset, so the validation set has only four H failures, and that's not enough signal to learn from. The takeaway is that overall accuracy hides this completely, which is exactly why fairness checks belong in the workflow. A production deployment would need either stratified resampling, a separate H-specific model, or an explicit warning that the model is out of scope for high-grade machines.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thing I learned is that the model family mattered more than I expected. In cross-validation the booster reached a PR-AUC of 0.76 against 0.59 for the decision tree, while threshold tuning barely moved the cutoff, from 0.5 to 0.496, and lifted validation recall from 0.588 to 0.608. The hardest decision was picking the failure threshold without a real cost ratio, so I used the F1-max threshold from validation. Honest limitation: this is a synthetic dataset, so the result is credible on AI4I but not a deployment guarantee. Next steps in priority order: validate on a real predictive-maintenance dataset like NASA C-MAPSS, replace F1 with a cost-based threshold, fix the Type H blind spot, and add drift monitoring. Thanks for watching, the GitHub link is on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10607040" cy="365760"/>
          </a:xfrm>
          <a:prstGeom prst="rect">
            <a:avLst/>
          </a:prstGeom>
          <a:noFill/>
        </p:spPr>
        <p:txBody>
          <a:bodyPr wrap="square" lIns="0" rIns="0" tIns="0" bIns="0" anchor="t">
            <a:spAutoFit/>
          </a:bodyPr>
          <a:lstStyle/>
          <a:p>
            <a:pPr algn="l">
              <a:lnSpc>
                <a:spcPct val="115000"/>
              </a:lnSpc>
            </a:pPr>
            <a:r>
              <a:rPr sz="1400" b="1" i="0">
                <a:solidFill>
                  <a:srgbClr val="1C7293"/>
                </a:solidFill>
                <a:latin typeface="Calibri"/>
              </a:rPr>
              <a:t>AAI201 MACHINE LEARNING  |  CAPSTONE PROJECT</a:t>
            </a:r>
          </a:p>
        </p:txBody>
      </p:sp>
      <p:sp>
        <p:nvSpPr>
          <p:cNvPr id="5" name="TextBox 4"/>
          <p:cNvSpPr txBox="1"/>
          <p:nvPr/>
        </p:nvSpPr>
        <p:spPr>
          <a:xfrm>
            <a:off x="822960" y="2468880"/>
            <a:ext cx="10607040" cy="2194560"/>
          </a:xfrm>
          <a:prstGeom prst="rect">
            <a:avLst/>
          </a:prstGeom>
          <a:noFill/>
        </p:spPr>
        <p:txBody>
          <a:bodyPr wrap="square" lIns="0" rIns="0" tIns="0" bIns="0" anchor="t">
            <a:spAutoFit/>
          </a:bodyPr>
          <a:lstStyle/>
          <a:p>
            <a:pPr algn="l">
              <a:lnSpc>
                <a:spcPct val="105000"/>
              </a:lnSpc>
            </a:pPr>
            <a:r>
              <a:rPr sz="5400" b="1" i="0">
                <a:solidFill>
                  <a:srgbClr val="FFFFFF"/>
                </a:solidFill>
                <a:latin typeface="Cambria"/>
              </a:rPr>
              <a:t>Predictive Maintenance</a:t>
            </a:r>
          </a:p>
          <a:p>
            <a:pPr algn="l">
              <a:lnSpc>
                <a:spcPct val="105000"/>
              </a:lnSpc>
            </a:pPr>
            <a:r>
              <a:rPr sz="5400" b="1" i="0">
                <a:solidFill>
                  <a:srgbClr val="FFFFFF"/>
                </a:solidFill>
                <a:latin typeface="Cambria"/>
              </a:rPr>
              <a:t>Failure Prediction</a:t>
            </a:r>
          </a:p>
        </p:txBody>
      </p:sp>
      <p:sp>
        <p:nvSpPr>
          <p:cNvPr id="6" name="TextBox 5"/>
          <p:cNvSpPr txBox="1"/>
          <p:nvPr/>
        </p:nvSpPr>
        <p:spPr>
          <a:xfrm>
            <a:off x="822960" y="4754880"/>
            <a:ext cx="10607040" cy="457200"/>
          </a:xfrm>
          <a:prstGeom prst="rect">
            <a:avLst/>
          </a:prstGeom>
          <a:noFill/>
        </p:spPr>
        <p:txBody>
          <a:bodyPr wrap="square" lIns="0" rIns="0" tIns="0" bIns="0" anchor="t">
            <a:spAutoFit/>
          </a:bodyPr>
          <a:lstStyle/>
          <a:p>
            <a:pPr algn="l">
              <a:lnSpc>
                <a:spcPct val="115000"/>
              </a:lnSpc>
            </a:pPr>
            <a:r>
              <a:rPr sz="1800" b="0" i="1">
                <a:solidFill>
                  <a:srgbClr val="F2F4F7"/>
                </a:solidFill>
                <a:latin typeface="Calibri"/>
              </a:rPr>
              <a:t>Binary classification on the AI4I 2020 dataset using baseline and ensemble models</a:t>
            </a:r>
          </a:p>
        </p:txBody>
      </p:sp>
      <p:sp>
        <p:nvSpPr>
          <p:cNvPr id="7" name="TextBox 6"/>
          <p:cNvSpPr txBox="1"/>
          <p:nvPr/>
        </p:nvSpPr>
        <p:spPr>
          <a:xfrm>
            <a:off x="822960" y="5760720"/>
            <a:ext cx="10607040" cy="365760"/>
          </a:xfrm>
          <a:prstGeom prst="rect">
            <a:avLst/>
          </a:prstGeom>
          <a:noFill/>
        </p:spPr>
        <p:txBody>
          <a:bodyPr wrap="square" lIns="0" rIns="0" tIns="0" bIns="0" anchor="t">
            <a:spAutoFit/>
          </a:bodyPr>
          <a:lstStyle/>
          <a:p>
            <a:pPr algn="l">
              <a:lnSpc>
                <a:spcPct val="115000"/>
              </a:lnSpc>
            </a:pPr>
            <a:r>
              <a:rPr sz="1600" b="0" i="0">
                <a:solidFill>
                  <a:srgbClr val="FFFFFF"/>
                </a:solidFill>
                <a:latin typeface="Calibri"/>
              </a:rPr>
              <a:t>Drew Menning   |   DMACC, Spring 2026</a:t>
            </a:r>
          </a:p>
        </p:txBody>
      </p:sp>
      <p:sp>
        <p:nvSpPr>
          <p:cNvPr id="8" name="TextBox 7"/>
          <p:cNvSpPr txBox="1"/>
          <p:nvPr/>
        </p:nvSpPr>
        <p:spPr>
          <a:xfrm>
            <a:off x="822960" y="6172200"/>
            <a:ext cx="10607040" cy="365760"/>
          </a:xfrm>
          <a:prstGeom prst="rect">
            <a:avLst/>
          </a:prstGeom>
          <a:noFill/>
        </p:spPr>
        <p:txBody>
          <a:bodyPr wrap="square" lIns="0" rIns="0" tIns="0" bIns="0" anchor="t">
            <a:spAutoFit/>
          </a:bodyPr>
          <a:lstStyle/>
          <a:p>
            <a:pPr algn="l">
              <a:lnSpc>
                <a:spcPct val="115000"/>
              </a:lnSpc>
            </a:pPr>
            <a:r>
              <a:rPr sz="1300" b="0" i="0">
                <a:solidFill>
                  <a:srgbClr val="1C7293"/>
                </a:solidFill>
                <a:latin typeface="Calibri"/>
              </a:rPr>
              <a:t>github.com/drewmenning/ai4i-predictive-maintenance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640080"/>
          </a:xfrm>
          <a:prstGeom prst="rect">
            <a:avLst/>
          </a:prstGeom>
          <a:noFill/>
        </p:spPr>
        <p:txBody>
          <a:bodyPr wrap="square" lIns="0" rIns="0" tIns="0" bIns="0" anchor="t">
            <a:spAutoFit/>
          </a:bodyPr>
          <a:lstStyle/>
          <a:p>
            <a:pPr algn="l">
              <a:lnSpc>
                <a:spcPct val="115000"/>
              </a:lnSpc>
            </a:pPr>
            <a:r>
              <a:rPr sz="3200" b="1" i="0">
                <a:solidFill>
                  <a:srgbClr val="21295C"/>
                </a:solidFill>
                <a:latin typeface="Cambria"/>
              </a:rPr>
              <a:t>Problem and dataset</a:t>
            </a:r>
          </a:p>
        </p:txBody>
      </p:sp>
      <p:sp>
        <p:nvSpPr>
          <p:cNvPr id="4" name="Rectangle 3"/>
          <p:cNvSpPr/>
          <p:nvPr/>
        </p:nvSpPr>
        <p:spPr>
          <a:xfrm>
            <a:off x="548640" y="1188720"/>
            <a:ext cx="73152" cy="51206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34440"/>
            <a:ext cx="5943600" cy="457200"/>
          </a:xfrm>
          <a:prstGeom prst="rect">
            <a:avLst/>
          </a:prstGeom>
          <a:noFill/>
        </p:spPr>
        <p:txBody>
          <a:bodyPr wrap="square" lIns="0" rIns="0" tIns="0" bIns="0" anchor="t">
            <a:spAutoFit/>
          </a:bodyPr>
          <a:lstStyle/>
          <a:p>
            <a:pPr algn="l">
              <a:lnSpc>
                <a:spcPct val="115000"/>
              </a:lnSpc>
            </a:pPr>
            <a:r>
              <a:rPr sz="2200" b="1" i="0">
                <a:solidFill>
                  <a:srgbClr val="21295C"/>
                </a:solidFill>
                <a:latin typeface="Cambria"/>
              </a:rPr>
              <a:t>Why predict machine failure?</a:t>
            </a:r>
          </a:p>
        </p:txBody>
      </p:sp>
      <p:sp>
        <p:nvSpPr>
          <p:cNvPr id="6" name="TextBox 5"/>
          <p:cNvSpPr txBox="1"/>
          <p:nvPr/>
        </p:nvSpPr>
        <p:spPr>
          <a:xfrm>
            <a:off x="914400" y="1783080"/>
            <a:ext cx="5943600" cy="2286000"/>
          </a:xfrm>
          <a:prstGeom prst="rect">
            <a:avLst/>
          </a:prstGeom>
          <a:noFill/>
        </p:spPr>
        <p:txBody>
          <a:bodyPr wrap="square" lIns="0" rIns="0" tIns="0" bIns="0" anchor="t">
            <a:spAutoFit/>
          </a:bodyPr>
          <a:lstStyle/>
          <a:p>
            <a:pPr algn="l">
              <a:lnSpc>
                <a:spcPct val="125000"/>
              </a:lnSpc>
            </a:pPr>
            <a:r>
              <a:rPr sz="1500" b="0" i="0">
                <a:solidFill>
                  <a:srgbClr val="1A1F33"/>
                </a:solidFill>
                <a:latin typeface="Calibri"/>
              </a:rPr>
              <a:t>Unplanned downtime is expensive and disruptive. A model that flags machines likely to fail in the near term lets a maintenance team intervene early. The cost of a missed failure is much higher than the cost of an unnecessary inspection, so recall and threshold choice matter more than raw accuracy.</a:t>
            </a:r>
          </a:p>
        </p:txBody>
      </p:sp>
      <p:sp>
        <p:nvSpPr>
          <p:cNvPr id="7" name="TextBox 6"/>
          <p:cNvSpPr txBox="1"/>
          <p:nvPr/>
        </p:nvSpPr>
        <p:spPr>
          <a:xfrm>
            <a:off x="914400" y="4023360"/>
            <a:ext cx="5943600" cy="411480"/>
          </a:xfrm>
          <a:prstGeom prst="rect">
            <a:avLst/>
          </a:prstGeom>
          <a:noFill/>
        </p:spPr>
        <p:txBody>
          <a:bodyPr wrap="square" lIns="0" rIns="0" tIns="0" bIns="0" anchor="t">
            <a:spAutoFit/>
          </a:bodyPr>
          <a:lstStyle/>
          <a:p>
            <a:pPr algn="l">
              <a:lnSpc>
                <a:spcPct val="115000"/>
              </a:lnSpc>
            </a:pPr>
            <a:r>
              <a:rPr sz="2200" b="1" i="0">
                <a:solidFill>
                  <a:srgbClr val="21295C"/>
                </a:solidFill>
                <a:latin typeface="Cambria"/>
              </a:rPr>
              <a:t>Dataset: AI4I 2020 (UCI ML Repository)</a:t>
            </a:r>
          </a:p>
        </p:txBody>
      </p:sp>
      <p:sp>
        <p:nvSpPr>
          <p:cNvPr id="8" name="TextBox 7"/>
          <p:cNvSpPr txBox="1"/>
          <p:nvPr/>
        </p:nvSpPr>
        <p:spPr>
          <a:xfrm>
            <a:off x="914400" y="4526280"/>
            <a:ext cx="5943600" cy="1828800"/>
          </a:xfrm>
          <a:prstGeom prst="rect">
            <a:avLst/>
          </a:prstGeom>
          <a:noFill/>
        </p:spPr>
        <p:txBody>
          <a:bodyPr wrap="square" lIns="0" rIns="0" tIns="0" bIns="0" anchor="t">
            <a:spAutoFit/>
          </a:bodyPr>
          <a:lstStyle/>
          <a:p>
            <a:pPr algn="l">
              <a:lnSpc>
                <a:spcPct val="125000"/>
              </a:lnSpc>
            </a:pPr>
            <a:r>
              <a:rPr sz="1500" b="0" i="0">
                <a:solidFill>
                  <a:srgbClr val="1A1F33"/>
                </a:solidFill>
                <a:latin typeface="Calibri"/>
              </a:rPr>
              <a:t>Synthetic, tabular. Features include product type, air temperature, process temperature, rotational speed, torque, and tool wear. Target is the binary Machine failure flag.</a:t>
            </a:r>
          </a:p>
        </p:txBody>
      </p:sp>
      <p:sp>
        <p:nvSpPr>
          <p:cNvPr id="9" name="Rectangle 8"/>
          <p:cNvSpPr/>
          <p:nvPr/>
        </p:nvSpPr>
        <p:spPr>
          <a:xfrm>
            <a:off x="7498079" y="1280160"/>
            <a:ext cx="411480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79" y="1280160"/>
            <a:ext cx="4114800" cy="7315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399" y="1508760"/>
            <a:ext cx="3566160" cy="822960"/>
          </a:xfrm>
          <a:prstGeom prst="rect">
            <a:avLst/>
          </a:prstGeom>
          <a:noFill/>
        </p:spPr>
        <p:txBody>
          <a:bodyPr wrap="square" lIns="0" rIns="0" tIns="0" bIns="0" anchor="t">
            <a:spAutoFit/>
          </a:bodyPr>
          <a:lstStyle/>
          <a:p>
            <a:pPr algn="l">
              <a:lnSpc>
                <a:spcPct val="115000"/>
              </a:lnSpc>
            </a:pPr>
            <a:r>
              <a:rPr sz="4000" b="1" i="0">
                <a:solidFill>
                  <a:srgbClr val="065A82"/>
                </a:solidFill>
                <a:latin typeface="Cambria"/>
              </a:rPr>
              <a:t>10,000</a:t>
            </a:r>
          </a:p>
        </p:txBody>
      </p:sp>
      <p:sp>
        <p:nvSpPr>
          <p:cNvPr id="12" name="TextBox 11"/>
          <p:cNvSpPr txBox="1"/>
          <p:nvPr/>
        </p:nvSpPr>
        <p:spPr>
          <a:xfrm>
            <a:off x="7772399" y="2331720"/>
            <a:ext cx="3566160" cy="54864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rows in the dataset</a:t>
            </a:r>
          </a:p>
        </p:txBody>
      </p:sp>
      <p:sp>
        <p:nvSpPr>
          <p:cNvPr id="13" name="Rectangle 12"/>
          <p:cNvSpPr/>
          <p:nvPr/>
        </p:nvSpPr>
        <p:spPr>
          <a:xfrm>
            <a:off x="7498079" y="3017520"/>
            <a:ext cx="411480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79" y="3017520"/>
            <a:ext cx="4114800" cy="7315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399" y="3246120"/>
            <a:ext cx="3566160" cy="822960"/>
          </a:xfrm>
          <a:prstGeom prst="rect">
            <a:avLst/>
          </a:prstGeom>
          <a:noFill/>
        </p:spPr>
        <p:txBody>
          <a:bodyPr wrap="square" lIns="0" rIns="0" tIns="0" bIns="0" anchor="t">
            <a:spAutoFit/>
          </a:bodyPr>
          <a:lstStyle/>
          <a:p>
            <a:pPr algn="l">
              <a:lnSpc>
                <a:spcPct val="115000"/>
              </a:lnSpc>
            </a:pPr>
            <a:r>
              <a:rPr sz="4000" b="1" i="0">
                <a:solidFill>
                  <a:srgbClr val="065A82"/>
                </a:solidFill>
                <a:latin typeface="Cambria"/>
              </a:rPr>
              <a:t>3.39%</a:t>
            </a:r>
          </a:p>
        </p:txBody>
      </p:sp>
      <p:sp>
        <p:nvSpPr>
          <p:cNvPr id="16" name="TextBox 15"/>
          <p:cNvSpPr txBox="1"/>
          <p:nvPr/>
        </p:nvSpPr>
        <p:spPr>
          <a:xfrm>
            <a:off x="7772399" y="4069080"/>
            <a:ext cx="3566160" cy="54864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machines fail (339 of 10,000), a strongly imbalanced positive class</a:t>
            </a:r>
          </a:p>
        </p:txBody>
      </p:sp>
      <p:sp>
        <p:nvSpPr>
          <p:cNvPr id="17" name="Rectangle 16"/>
          <p:cNvSpPr/>
          <p:nvPr/>
        </p:nvSpPr>
        <p:spPr>
          <a:xfrm>
            <a:off x="7498079" y="4754880"/>
            <a:ext cx="411480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79" y="4754880"/>
            <a:ext cx="4114800" cy="7315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399" y="4983480"/>
            <a:ext cx="3566160" cy="822960"/>
          </a:xfrm>
          <a:prstGeom prst="rect">
            <a:avLst/>
          </a:prstGeom>
          <a:noFill/>
        </p:spPr>
        <p:txBody>
          <a:bodyPr wrap="square" lIns="0" rIns="0" tIns="0" bIns="0" anchor="t">
            <a:spAutoFit/>
          </a:bodyPr>
          <a:lstStyle/>
          <a:p>
            <a:pPr algn="l">
              <a:lnSpc>
                <a:spcPct val="115000"/>
              </a:lnSpc>
            </a:pPr>
            <a:r>
              <a:rPr sz="4000" b="1" i="0">
                <a:solidFill>
                  <a:srgbClr val="065A82"/>
                </a:solidFill>
                <a:latin typeface="Cambria"/>
              </a:rPr>
              <a:t>8</a:t>
            </a:r>
          </a:p>
        </p:txBody>
      </p:sp>
      <p:sp>
        <p:nvSpPr>
          <p:cNvPr id="20" name="TextBox 19"/>
          <p:cNvSpPr txBox="1"/>
          <p:nvPr/>
        </p:nvSpPr>
        <p:spPr>
          <a:xfrm>
            <a:off x="7772399" y="5806440"/>
            <a:ext cx="3566160" cy="54864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features used (after removing IDs and per-mode failure leak columns)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640080"/>
          </a:xfrm>
          <a:prstGeom prst="rect">
            <a:avLst/>
          </a:prstGeom>
          <a:noFill/>
        </p:spPr>
        <p:txBody>
          <a:bodyPr wrap="square" lIns="0" rIns="0" tIns="0" bIns="0" anchor="t">
            <a:spAutoFit/>
          </a:bodyPr>
          <a:lstStyle/>
          <a:p>
            <a:pPr algn="l">
              <a:lnSpc>
                <a:spcPct val="115000"/>
              </a:lnSpc>
            </a:pPr>
            <a:r>
              <a:rPr sz="3200" b="1" i="0">
                <a:solidFill>
                  <a:srgbClr val="21295C"/>
                </a:solidFill>
                <a:latin typeface="Cambria"/>
              </a:rPr>
              <a:t>Approach: baseline to ensemble, with the right metric</a:t>
            </a:r>
          </a:p>
        </p:txBody>
      </p:sp>
      <p:sp>
        <p:nvSpPr>
          <p:cNvPr id="4" name="Rectangle 3"/>
          <p:cNvSpPr/>
          <p:nvPr/>
        </p:nvSpPr>
        <p:spPr>
          <a:xfrm>
            <a:off x="548640" y="1280160"/>
            <a:ext cx="5486400" cy="5029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35024"/>
            <a:ext cx="4937760" cy="365760"/>
          </a:xfrm>
          <a:prstGeom prst="rect">
            <a:avLst/>
          </a:prstGeom>
          <a:noFill/>
        </p:spPr>
        <p:txBody>
          <a:bodyPr wrap="square" lIns="0" rIns="0" tIns="0" bIns="0" anchor="t">
            <a:spAutoFit/>
          </a:bodyPr>
          <a:lstStyle/>
          <a:p>
            <a:pPr algn="l">
              <a:lnSpc>
                <a:spcPct val="115000"/>
              </a:lnSpc>
            </a:pPr>
            <a:r>
              <a:rPr sz="1600" b="1" i="0">
                <a:solidFill>
                  <a:srgbClr val="FFFFFF"/>
                </a:solidFill>
                <a:latin typeface="Cambria"/>
              </a:rPr>
              <a:t>Models compared</a:t>
            </a:r>
          </a:p>
        </p:txBody>
      </p:sp>
      <p:sp>
        <p:nvSpPr>
          <p:cNvPr id="7" name="TextBox 6"/>
          <p:cNvSpPr txBox="1"/>
          <p:nvPr/>
        </p:nvSpPr>
        <p:spPr>
          <a:xfrm>
            <a:off x="868680" y="182880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Logistic Regression</a:t>
            </a:r>
          </a:p>
        </p:txBody>
      </p:sp>
      <p:sp>
        <p:nvSpPr>
          <p:cNvPr id="8" name="TextBox 7"/>
          <p:cNvSpPr txBox="1"/>
          <p:nvPr/>
        </p:nvSpPr>
        <p:spPr>
          <a:xfrm>
            <a:off x="868680" y="2157984"/>
            <a:ext cx="4846320" cy="411480"/>
          </a:xfrm>
          <a:prstGeom prst="rect">
            <a:avLst/>
          </a:prstGeom>
          <a:noFill/>
        </p:spPr>
        <p:txBody>
          <a:bodyPr wrap="square" lIns="0" rIns="0" tIns="0" bIns="0" anchor="t">
            <a:spAutoFit/>
          </a:bodyPr>
          <a:lstStyle/>
          <a:p>
            <a:pPr algn="l">
              <a:lnSpc>
                <a:spcPct val="115000"/>
              </a:lnSpc>
            </a:pPr>
            <a:r>
              <a:rPr sz="1300" b="0" i="0">
                <a:solidFill>
                  <a:srgbClr val="6B7389"/>
                </a:solidFill>
                <a:latin typeface="Calibri"/>
              </a:rPr>
              <a:t>L2 regularized, balanced class weights</a:t>
            </a:r>
          </a:p>
        </p:txBody>
      </p:sp>
      <p:sp>
        <p:nvSpPr>
          <p:cNvPr id="9" name="TextBox 8"/>
          <p:cNvSpPr txBox="1"/>
          <p:nvPr/>
        </p:nvSpPr>
        <p:spPr>
          <a:xfrm>
            <a:off x="868680" y="283464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Decision Tree</a:t>
            </a:r>
          </a:p>
        </p:txBody>
      </p:sp>
      <p:sp>
        <p:nvSpPr>
          <p:cNvPr id="10" name="TextBox 9"/>
          <p:cNvSpPr txBox="1"/>
          <p:nvPr/>
        </p:nvSpPr>
        <p:spPr>
          <a:xfrm>
            <a:off x="868680" y="3163824"/>
            <a:ext cx="4846320" cy="411480"/>
          </a:xfrm>
          <a:prstGeom prst="rect">
            <a:avLst/>
          </a:prstGeom>
          <a:noFill/>
        </p:spPr>
        <p:txBody>
          <a:bodyPr wrap="square" lIns="0" rIns="0" tIns="0" bIns="0" anchor="t">
            <a:spAutoFit/>
          </a:bodyPr>
          <a:lstStyle/>
          <a:p>
            <a:pPr algn="l">
              <a:lnSpc>
                <a:spcPct val="115000"/>
              </a:lnSpc>
            </a:pPr>
            <a:r>
              <a:rPr sz="1300" b="0" i="0">
                <a:solidFill>
                  <a:srgbClr val="6B7389"/>
                </a:solidFill>
                <a:latin typeface="Calibri"/>
              </a:rPr>
              <a:t>max_depth = 6, min_samples_leaf = 20</a:t>
            </a:r>
          </a:p>
        </p:txBody>
      </p:sp>
      <p:sp>
        <p:nvSpPr>
          <p:cNvPr id="11" name="TextBox 10"/>
          <p:cNvSpPr txBox="1"/>
          <p:nvPr/>
        </p:nvSpPr>
        <p:spPr>
          <a:xfrm>
            <a:off x="868680" y="384048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Random Forest</a:t>
            </a:r>
          </a:p>
        </p:txBody>
      </p:sp>
      <p:sp>
        <p:nvSpPr>
          <p:cNvPr id="12" name="TextBox 11"/>
          <p:cNvSpPr txBox="1"/>
          <p:nvPr/>
        </p:nvSpPr>
        <p:spPr>
          <a:xfrm>
            <a:off x="868680" y="4169664"/>
            <a:ext cx="4846320" cy="411480"/>
          </a:xfrm>
          <a:prstGeom prst="rect">
            <a:avLst/>
          </a:prstGeom>
          <a:noFill/>
        </p:spPr>
        <p:txBody>
          <a:bodyPr wrap="square" lIns="0" rIns="0" tIns="0" bIns="0" anchor="t">
            <a:spAutoFit/>
          </a:bodyPr>
          <a:lstStyle/>
          <a:p>
            <a:pPr algn="l">
              <a:lnSpc>
                <a:spcPct val="115000"/>
              </a:lnSpc>
            </a:pPr>
            <a:r>
              <a:rPr sz="1300" b="0" i="0">
                <a:solidFill>
                  <a:srgbClr val="6B7389"/>
                </a:solidFill>
                <a:latin typeface="Calibri"/>
              </a:rPr>
              <a:t>300 trees, depth 12, balanced weights</a:t>
            </a:r>
          </a:p>
        </p:txBody>
      </p:sp>
      <p:sp>
        <p:nvSpPr>
          <p:cNvPr id="13" name="TextBox 12"/>
          <p:cNvSpPr txBox="1"/>
          <p:nvPr/>
        </p:nvSpPr>
        <p:spPr>
          <a:xfrm>
            <a:off x="868680" y="484632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HistGradientBoosting</a:t>
            </a:r>
          </a:p>
        </p:txBody>
      </p:sp>
      <p:sp>
        <p:nvSpPr>
          <p:cNvPr id="14" name="TextBox 13"/>
          <p:cNvSpPr txBox="1"/>
          <p:nvPr/>
        </p:nvSpPr>
        <p:spPr>
          <a:xfrm>
            <a:off x="868680" y="5175504"/>
            <a:ext cx="4846320" cy="411480"/>
          </a:xfrm>
          <a:prstGeom prst="rect">
            <a:avLst/>
          </a:prstGeom>
          <a:noFill/>
        </p:spPr>
        <p:txBody>
          <a:bodyPr wrap="square" lIns="0" rIns="0" tIns="0" bIns="0" anchor="t">
            <a:spAutoFit/>
          </a:bodyPr>
          <a:lstStyle/>
          <a:p>
            <a:pPr algn="l">
              <a:lnSpc>
                <a:spcPct val="115000"/>
              </a:lnSpc>
            </a:pPr>
            <a:r>
              <a:rPr sz="1300" b="0" i="0">
                <a:solidFill>
                  <a:srgbClr val="6B7389"/>
                </a:solidFill>
                <a:latin typeface="Calibri"/>
              </a:rPr>
              <a:t>Validation early stopping at 118 iters</a:t>
            </a:r>
          </a:p>
        </p:txBody>
      </p:sp>
      <p:sp>
        <p:nvSpPr>
          <p:cNvPr id="15" name="Rectangle 14"/>
          <p:cNvSpPr/>
          <p:nvPr/>
        </p:nvSpPr>
        <p:spPr>
          <a:xfrm>
            <a:off x="6263640" y="1280160"/>
            <a:ext cx="5486400" cy="5029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280160"/>
            <a:ext cx="54864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1335024"/>
            <a:ext cx="4937760" cy="365760"/>
          </a:xfrm>
          <a:prstGeom prst="rect">
            <a:avLst/>
          </a:prstGeom>
          <a:noFill/>
        </p:spPr>
        <p:txBody>
          <a:bodyPr wrap="square" lIns="0" rIns="0" tIns="0" bIns="0" anchor="t">
            <a:spAutoFit/>
          </a:bodyPr>
          <a:lstStyle/>
          <a:p>
            <a:pPr algn="l">
              <a:lnSpc>
                <a:spcPct val="115000"/>
              </a:lnSpc>
            </a:pPr>
            <a:r>
              <a:rPr sz="1600" b="1" i="0">
                <a:solidFill>
                  <a:srgbClr val="FFFFFF"/>
                </a:solidFill>
                <a:latin typeface="Cambria"/>
              </a:rPr>
              <a:t>Techniques</a:t>
            </a:r>
          </a:p>
        </p:txBody>
      </p:sp>
      <p:sp>
        <p:nvSpPr>
          <p:cNvPr id="18" name="TextBox 17"/>
          <p:cNvSpPr txBox="1"/>
          <p:nvPr/>
        </p:nvSpPr>
        <p:spPr>
          <a:xfrm>
            <a:off x="6583680" y="182880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Class imbalance</a:t>
            </a:r>
          </a:p>
        </p:txBody>
      </p:sp>
      <p:sp>
        <p:nvSpPr>
          <p:cNvPr id="19" name="TextBox 18"/>
          <p:cNvSpPr txBox="1"/>
          <p:nvPr/>
        </p:nvSpPr>
        <p:spPr>
          <a:xfrm>
            <a:off x="6583680" y="2157984"/>
            <a:ext cx="4846320" cy="502920"/>
          </a:xfrm>
          <a:prstGeom prst="rect">
            <a:avLst/>
          </a:prstGeom>
          <a:noFill/>
        </p:spPr>
        <p:txBody>
          <a:bodyPr wrap="square" lIns="0" rIns="0" tIns="0" bIns="0" anchor="t">
            <a:spAutoFit/>
          </a:bodyPr>
          <a:lstStyle/>
          <a:p>
            <a:pPr algn="l">
              <a:lnSpc>
                <a:spcPct val="120000"/>
              </a:lnSpc>
            </a:pPr>
            <a:r>
              <a:rPr sz="1300" b="0" i="0">
                <a:solidFill>
                  <a:srgbClr val="6B7389"/>
                </a:solidFill>
                <a:latin typeface="Calibri"/>
              </a:rPr>
              <a:t>class_weight='balanced' + threshold tuning (no SMOTE on synthetic data)</a:t>
            </a:r>
          </a:p>
        </p:txBody>
      </p:sp>
      <p:sp>
        <p:nvSpPr>
          <p:cNvPr id="20" name="TextBox 19"/>
          <p:cNvSpPr txBox="1"/>
          <p:nvPr/>
        </p:nvSpPr>
        <p:spPr>
          <a:xfrm>
            <a:off x="6583680" y="283464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Threshold selection</a:t>
            </a:r>
          </a:p>
        </p:txBody>
      </p:sp>
      <p:sp>
        <p:nvSpPr>
          <p:cNvPr id="21" name="TextBox 20"/>
          <p:cNvSpPr txBox="1"/>
          <p:nvPr/>
        </p:nvSpPr>
        <p:spPr>
          <a:xfrm>
            <a:off x="6583680" y="3163824"/>
            <a:ext cx="4846320" cy="502920"/>
          </a:xfrm>
          <a:prstGeom prst="rect">
            <a:avLst/>
          </a:prstGeom>
          <a:noFill/>
        </p:spPr>
        <p:txBody>
          <a:bodyPr wrap="square" lIns="0" rIns="0" tIns="0" bIns="0" anchor="t">
            <a:spAutoFit/>
          </a:bodyPr>
          <a:lstStyle/>
          <a:p>
            <a:pPr algn="l">
              <a:lnSpc>
                <a:spcPct val="120000"/>
              </a:lnSpc>
            </a:pPr>
            <a:r>
              <a:rPr sz="1300" b="0" i="0">
                <a:solidFill>
                  <a:srgbClr val="6B7389"/>
                </a:solidFill>
                <a:latin typeface="Calibri"/>
              </a:rPr>
              <a:t>F1-max on validation, applied unchanged to test</a:t>
            </a:r>
          </a:p>
        </p:txBody>
      </p:sp>
      <p:sp>
        <p:nvSpPr>
          <p:cNvPr id="22" name="TextBox 21"/>
          <p:cNvSpPr txBox="1"/>
          <p:nvPr/>
        </p:nvSpPr>
        <p:spPr>
          <a:xfrm>
            <a:off x="6583680" y="384048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Overfitting controls</a:t>
            </a:r>
          </a:p>
        </p:txBody>
      </p:sp>
      <p:sp>
        <p:nvSpPr>
          <p:cNvPr id="23" name="TextBox 22"/>
          <p:cNvSpPr txBox="1"/>
          <p:nvPr/>
        </p:nvSpPr>
        <p:spPr>
          <a:xfrm>
            <a:off x="6583680" y="4169664"/>
            <a:ext cx="4846320" cy="502920"/>
          </a:xfrm>
          <a:prstGeom prst="rect">
            <a:avLst/>
          </a:prstGeom>
          <a:noFill/>
        </p:spPr>
        <p:txBody>
          <a:bodyPr wrap="square" lIns="0" rIns="0" tIns="0" bIns="0" anchor="t">
            <a:spAutoFit/>
          </a:bodyPr>
          <a:lstStyle/>
          <a:p>
            <a:pPr algn="l">
              <a:lnSpc>
                <a:spcPct val="120000"/>
              </a:lnSpc>
            </a:pPr>
            <a:r>
              <a:rPr sz="1300" b="0" i="0">
                <a:solidFill>
                  <a:srgbClr val="6B7389"/>
                </a:solidFill>
                <a:latin typeface="Calibri"/>
              </a:rPr>
              <a:t>L2, depth limits, 5-fold stratified CV, early stopping</a:t>
            </a:r>
          </a:p>
        </p:txBody>
      </p:sp>
      <p:sp>
        <p:nvSpPr>
          <p:cNvPr id="24" name="TextBox 23"/>
          <p:cNvSpPr txBox="1"/>
          <p:nvPr/>
        </p:nvSpPr>
        <p:spPr>
          <a:xfrm>
            <a:off x="6583680" y="4846320"/>
            <a:ext cx="4846320" cy="320040"/>
          </a:xfrm>
          <a:prstGeom prst="rect">
            <a:avLst/>
          </a:prstGeom>
          <a:noFill/>
        </p:spPr>
        <p:txBody>
          <a:bodyPr wrap="square" lIns="0" rIns="0" tIns="0" bIns="0" anchor="t">
            <a:spAutoFit/>
          </a:bodyPr>
          <a:lstStyle/>
          <a:p>
            <a:pPr algn="l">
              <a:lnSpc>
                <a:spcPct val="115000"/>
              </a:lnSpc>
            </a:pPr>
            <a:r>
              <a:rPr sz="1500" b="1" i="0">
                <a:solidFill>
                  <a:srgbClr val="21295C"/>
                </a:solidFill>
                <a:latin typeface="Cambria"/>
              </a:rPr>
              <a:t>Fairness check</a:t>
            </a:r>
          </a:p>
        </p:txBody>
      </p:sp>
      <p:sp>
        <p:nvSpPr>
          <p:cNvPr id="25" name="TextBox 24"/>
          <p:cNvSpPr txBox="1"/>
          <p:nvPr/>
        </p:nvSpPr>
        <p:spPr>
          <a:xfrm>
            <a:off x="6583680" y="5175504"/>
            <a:ext cx="4846320" cy="502920"/>
          </a:xfrm>
          <a:prstGeom prst="rect">
            <a:avLst/>
          </a:prstGeom>
          <a:noFill/>
        </p:spPr>
        <p:txBody>
          <a:bodyPr wrap="square" lIns="0" rIns="0" tIns="0" bIns="0" anchor="t">
            <a:spAutoFit/>
          </a:bodyPr>
          <a:lstStyle/>
          <a:p>
            <a:pPr algn="l">
              <a:lnSpc>
                <a:spcPct val="120000"/>
              </a:lnSpc>
            </a:pPr>
            <a:r>
              <a:rPr sz="1300" b="0" i="0">
                <a:solidFill>
                  <a:srgbClr val="6B7389"/>
                </a:solidFill>
                <a:latin typeface="Calibri"/>
              </a:rPr>
              <a:t>Per-Type recall/precision (L, M, H quality grades)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640080"/>
          </a:xfrm>
          <a:prstGeom prst="rect">
            <a:avLst/>
          </a:prstGeom>
          <a:noFill/>
        </p:spPr>
        <p:txBody>
          <a:bodyPr wrap="square" lIns="0" rIns="0" tIns="0" bIns="0" anchor="t">
            <a:spAutoFit/>
          </a:bodyPr>
          <a:lstStyle/>
          <a:p>
            <a:pPr algn="l">
              <a:lnSpc>
                <a:spcPct val="115000"/>
              </a:lnSpc>
            </a:pPr>
            <a:r>
              <a:rPr sz="3200" b="1" i="0">
                <a:solidFill>
                  <a:srgbClr val="21295C"/>
                </a:solidFill>
                <a:latin typeface="Cambria"/>
              </a:rPr>
              <a:t>Model comparison: 5-fold cross-validation PR-AUC</a:t>
            </a:r>
          </a:p>
        </p:txBody>
      </p:sp>
      <p:sp>
        <p:nvSpPr>
          <p:cNvPr id="4" name="Rectangle 3"/>
          <p:cNvSpPr/>
          <p:nvPr/>
        </p:nvSpPr>
        <p:spPr>
          <a:xfrm>
            <a:off x="822960" y="1463040"/>
            <a:ext cx="786384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75688"/>
            <a:ext cx="1874519" cy="365760"/>
          </a:xfrm>
          <a:prstGeom prst="rect">
            <a:avLst/>
          </a:prstGeom>
          <a:noFill/>
        </p:spPr>
        <p:txBody>
          <a:bodyPr wrap="square" lIns="0" rIns="0" tIns="0" bIns="0" anchor="t">
            <a:spAutoFit/>
          </a:bodyPr>
          <a:lstStyle/>
          <a:p>
            <a:pPr algn="r">
              <a:lnSpc>
                <a:spcPct val="115000"/>
              </a:lnSpc>
            </a:pPr>
            <a:r>
              <a:rPr sz="1200" b="1" i="0">
                <a:solidFill>
                  <a:srgbClr val="1A1F33"/>
                </a:solidFill>
                <a:latin typeface="Calibri"/>
              </a:rPr>
              <a:t>Logistic Regression</a:t>
            </a:r>
          </a:p>
        </p:txBody>
      </p:sp>
      <p:sp>
        <p:nvSpPr>
          <p:cNvPr id="6" name="Rectangle 5"/>
          <p:cNvSpPr/>
          <p:nvPr/>
        </p:nvSpPr>
        <p:spPr>
          <a:xfrm>
            <a:off x="2926080" y="2011680"/>
            <a:ext cx="2988474"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05994" y="2057400"/>
            <a:ext cx="1828800" cy="365760"/>
          </a:xfrm>
          <a:prstGeom prst="rect">
            <a:avLst/>
          </a:prstGeom>
          <a:noFill/>
        </p:spPr>
        <p:txBody>
          <a:bodyPr wrap="square" lIns="0" rIns="0" tIns="0" bIns="0" anchor="t">
            <a:spAutoFit/>
          </a:bodyPr>
          <a:lstStyle/>
          <a:p>
            <a:pPr algn="l">
              <a:lnSpc>
                <a:spcPct val="115000"/>
              </a:lnSpc>
            </a:pPr>
            <a:r>
              <a:rPr sz="1200" b="1" i="0">
                <a:solidFill>
                  <a:srgbClr val="1A1F33"/>
                </a:solidFill>
                <a:latin typeface="Calibri"/>
              </a:rPr>
              <a:t>0.463  ± 0.053</a:t>
            </a:r>
          </a:p>
        </p:txBody>
      </p:sp>
      <p:sp>
        <p:nvSpPr>
          <p:cNvPr id="8" name="TextBox 7"/>
          <p:cNvSpPr txBox="1"/>
          <p:nvPr/>
        </p:nvSpPr>
        <p:spPr>
          <a:xfrm>
            <a:off x="960120" y="2852928"/>
            <a:ext cx="1874519" cy="365760"/>
          </a:xfrm>
          <a:prstGeom prst="rect">
            <a:avLst/>
          </a:prstGeom>
          <a:noFill/>
        </p:spPr>
        <p:txBody>
          <a:bodyPr wrap="square" lIns="0" rIns="0" tIns="0" bIns="0" anchor="t">
            <a:spAutoFit/>
          </a:bodyPr>
          <a:lstStyle/>
          <a:p>
            <a:pPr algn="r">
              <a:lnSpc>
                <a:spcPct val="115000"/>
              </a:lnSpc>
            </a:pPr>
            <a:r>
              <a:rPr sz="1200" b="1" i="0">
                <a:solidFill>
                  <a:srgbClr val="1A1F33"/>
                </a:solidFill>
                <a:latin typeface="Calibri"/>
              </a:rPr>
              <a:t>Decision Tree</a:t>
            </a:r>
          </a:p>
        </p:txBody>
      </p:sp>
      <p:sp>
        <p:nvSpPr>
          <p:cNvPr id="9" name="Rectangle 8"/>
          <p:cNvSpPr/>
          <p:nvPr/>
        </p:nvSpPr>
        <p:spPr>
          <a:xfrm>
            <a:off x="2926080" y="2788920"/>
            <a:ext cx="3834025"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1545" y="2834640"/>
            <a:ext cx="1828800" cy="365760"/>
          </a:xfrm>
          <a:prstGeom prst="rect">
            <a:avLst/>
          </a:prstGeom>
          <a:noFill/>
        </p:spPr>
        <p:txBody>
          <a:bodyPr wrap="square" lIns="0" rIns="0" tIns="0" bIns="0" anchor="t">
            <a:spAutoFit/>
          </a:bodyPr>
          <a:lstStyle/>
          <a:p>
            <a:pPr algn="l">
              <a:lnSpc>
                <a:spcPct val="115000"/>
              </a:lnSpc>
            </a:pPr>
            <a:r>
              <a:rPr sz="1200" b="1" i="0">
                <a:solidFill>
                  <a:srgbClr val="1A1F33"/>
                </a:solidFill>
                <a:latin typeface="Calibri"/>
              </a:rPr>
              <a:t>0.594  ± 0.019</a:t>
            </a:r>
          </a:p>
        </p:txBody>
      </p:sp>
      <p:sp>
        <p:nvSpPr>
          <p:cNvPr id="11" name="TextBox 10"/>
          <p:cNvSpPr txBox="1"/>
          <p:nvPr/>
        </p:nvSpPr>
        <p:spPr>
          <a:xfrm>
            <a:off x="960120" y="3630168"/>
            <a:ext cx="1874519" cy="365760"/>
          </a:xfrm>
          <a:prstGeom prst="rect">
            <a:avLst/>
          </a:prstGeom>
          <a:noFill/>
        </p:spPr>
        <p:txBody>
          <a:bodyPr wrap="square" lIns="0" rIns="0" tIns="0" bIns="0" anchor="t">
            <a:spAutoFit/>
          </a:bodyPr>
          <a:lstStyle/>
          <a:p>
            <a:pPr algn="r">
              <a:lnSpc>
                <a:spcPct val="115000"/>
              </a:lnSpc>
            </a:pPr>
            <a:r>
              <a:rPr sz="1200" b="1" i="0">
                <a:solidFill>
                  <a:srgbClr val="1A1F33"/>
                </a:solidFill>
                <a:latin typeface="Calibri"/>
              </a:rPr>
              <a:t>Random Forest</a:t>
            </a:r>
          </a:p>
        </p:txBody>
      </p:sp>
      <p:sp>
        <p:nvSpPr>
          <p:cNvPr id="12" name="Rectangle 11"/>
          <p:cNvSpPr/>
          <p:nvPr/>
        </p:nvSpPr>
        <p:spPr>
          <a:xfrm>
            <a:off x="2926080" y="3566160"/>
            <a:ext cx="4356847"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4367" y="3611880"/>
            <a:ext cx="1828800" cy="365760"/>
          </a:xfrm>
          <a:prstGeom prst="rect">
            <a:avLst/>
          </a:prstGeom>
          <a:noFill/>
        </p:spPr>
        <p:txBody>
          <a:bodyPr wrap="square" lIns="0" rIns="0" tIns="0" bIns="0" anchor="t">
            <a:spAutoFit/>
          </a:bodyPr>
          <a:lstStyle/>
          <a:p>
            <a:pPr algn="l">
              <a:lnSpc>
                <a:spcPct val="115000"/>
              </a:lnSpc>
            </a:pPr>
            <a:r>
              <a:rPr sz="1200" b="1" i="0">
                <a:solidFill>
                  <a:srgbClr val="1A1F33"/>
                </a:solidFill>
                <a:latin typeface="Calibri"/>
              </a:rPr>
              <a:t>0.675  ± 0.064</a:t>
            </a:r>
          </a:p>
        </p:txBody>
      </p:sp>
      <p:sp>
        <p:nvSpPr>
          <p:cNvPr id="14" name="TextBox 13"/>
          <p:cNvSpPr txBox="1"/>
          <p:nvPr/>
        </p:nvSpPr>
        <p:spPr>
          <a:xfrm>
            <a:off x="960120" y="4407408"/>
            <a:ext cx="1874519" cy="365760"/>
          </a:xfrm>
          <a:prstGeom prst="rect">
            <a:avLst/>
          </a:prstGeom>
          <a:noFill/>
        </p:spPr>
        <p:txBody>
          <a:bodyPr wrap="square" lIns="0" rIns="0" tIns="0" bIns="0" anchor="t">
            <a:spAutoFit/>
          </a:bodyPr>
          <a:lstStyle/>
          <a:p>
            <a:pPr algn="r">
              <a:lnSpc>
                <a:spcPct val="115000"/>
              </a:lnSpc>
            </a:pPr>
            <a:r>
              <a:rPr sz="1200" b="1" i="0">
                <a:solidFill>
                  <a:srgbClr val="1A1F33"/>
                </a:solidFill>
                <a:latin typeface="Calibri"/>
              </a:rPr>
              <a:t>HistGradientBoosting</a:t>
            </a:r>
          </a:p>
        </p:txBody>
      </p:sp>
      <p:sp>
        <p:nvSpPr>
          <p:cNvPr id="15" name="Rectangle 14"/>
          <p:cNvSpPr/>
          <p:nvPr/>
        </p:nvSpPr>
        <p:spPr>
          <a:xfrm>
            <a:off x="2926080" y="4343400"/>
            <a:ext cx="4899032"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6552" y="4389120"/>
            <a:ext cx="1828800" cy="365760"/>
          </a:xfrm>
          <a:prstGeom prst="rect">
            <a:avLst/>
          </a:prstGeom>
          <a:noFill/>
        </p:spPr>
        <p:txBody>
          <a:bodyPr wrap="square" lIns="0" rIns="0" tIns="0" bIns="0" anchor="t">
            <a:spAutoFit/>
          </a:bodyPr>
          <a:lstStyle/>
          <a:p>
            <a:pPr algn="l">
              <a:lnSpc>
                <a:spcPct val="115000"/>
              </a:lnSpc>
            </a:pPr>
            <a:r>
              <a:rPr sz="1200" b="1" i="0">
                <a:solidFill>
                  <a:srgbClr val="1A1F33"/>
                </a:solidFill>
                <a:latin typeface="Calibri"/>
              </a:rPr>
              <a:t>0.759  ± 0.026</a:t>
            </a:r>
          </a:p>
        </p:txBody>
      </p:sp>
      <p:sp>
        <p:nvSpPr>
          <p:cNvPr id="17" name="TextBox 16"/>
          <p:cNvSpPr txBox="1"/>
          <p:nvPr/>
        </p:nvSpPr>
        <p:spPr>
          <a:xfrm>
            <a:off x="960120" y="5943600"/>
            <a:ext cx="7589520" cy="274320"/>
          </a:xfrm>
          <a:prstGeom prst="rect">
            <a:avLst/>
          </a:prstGeom>
          <a:noFill/>
        </p:spPr>
        <p:txBody>
          <a:bodyPr wrap="square" lIns="0" rIns="0" tIns="0" bIns="0" anchor="t">
            <a:spAutoFit/>
          </a:bodyPr>
          <a:lstStyle/>
          <a:p>
            <a:pPr algn="l">
              <a:lnSpc>
                <a:spcPct val="115000"/>
              </a:lnSpc>
            </a:pPr>
            <a:r>
              <a:rPr sz="1100" b="0" i="1">
                <a:solidFill>
                  <a:srgbClr val="6B7389"/>
                </a:solidFill>
                <a:latin typeface="Calibri"/>
              </a:rPr>
              <a:t>PR-AUC (5-fold mean ± std on training set)</a:t>
            </a:r>
          </a:p>
        </p:txBody>
      </p:sp>
      <p:sp>
        <p:nvSpPr>
          <p:cNvPr id="18" name="Rectangle 17"/>
          <p:cNvSpPr/>
          <p:nvPr/>
        </p:nvSpPr>
        <p:spPr>
          <a:xfrm>
            <a:off x="8869680" y="1463040"/>
            <a:ext cx="2834640" cy="4846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1645920"/>
            <a:ext cx="23774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Cambria"/>
              </a:rPr>
              <a:t>Why PR-AUC?</a:t>
            </a:r>
          </a:p>
        </p:txBody>
      </p:sp>
      <p:sp>
        <p:nvSpPr>
          <p:cNvPr id="20" name="TextBox 19"/>
          <p:cNvSpPr txBox="1"/>
          <p:nvPr/>
        </p:nvSpPr>
        <p:spPr>
          <a:xfrm>
            <a:off x="9098280" y="2194560"/>
            <a:ext cx="2377440" cy="2194560"/>
          </a:xfrm>
          <a:prstGeom prst="rect">
            <a:avLst/>
          </a:prstGeom>
          <a:noFill/>
        </p:spPr>
        <p:txBody>
          <a:bodyPr wrap="square" lIns="0" rIns="0" tIns="0" bIns="0" anchor="t">
            <a:spAutoFit/>
          </a:bodyPr>
          <a:lstStyle/>
          <a:p>
            <a:pPr algn="l">
              <a:lnSpc>
                <a:spcPct val="130000"/>
              </a:lnSpc>
            </a:pPr>
            <a:r>
              <a:rPr sz="1200" b="0" i="0">
                <a:solidFill>
                  <a:srgbClr val="F2F4F7"/>
                </a:solidFill>
                <a:latin typeface="Calibri"/>
              </a:rPr>
              <a:t>ROC-AUC stays high on imbalanced data because true negatives dominate. PR-AUC ignores those and rewards models that actually rank failures high.</a:t>
            </a:r>
          </a:p>
        </p:txBody>
      </p:sp>
      <p:sp>
        <p:nvSpPr>
          <p:cNvPr id="21" name="TextBox 20"/>
          <p:cNvSpPr txBox="1"/>
          <p:nvPr/>
        </p:nvSpPr>
        <p:spPr>
          <a:xfrm>
            <a:off x="9098280" y="4480560"/>
            <a:ext cx="2377440" cy="457200"/>
          </a:xfrm>
          <a:prstGeom prst="rect">
            <a:avLst/>
          </a:prstGeom>
          <a:noFill/>
        </p:spPr>
        <p:txBody>
          <a:bodyPr wrap="square" lIns="0" rIns="0" tIns="0" bIns="0" anchor="t">
            <a:spAutoFit/>
          </a:bodyPr>
          <a:lstStyle/>
          <a:p>
            <a:pPr algn="l">
              <a:lnSpc>
                <a:spcPct val="115000"/>
              </a:lnSpc>
            </a:pPr>
            <a:r>
              <a:rPr sz="1400" b="1" i="0">
                <a:solidFill>
                  <a:srgbClr val="1C7293"/>
                </a:solidFill>
                <a:latin typeface="Cambria"/>
              </a:rPr>
              <a:t>HGB has the best mean.</a:t>
            </a:r>
          </a:p>
        </p:txBody>
      </p:sp>
      <p:sp>
        <p:nvSpPr>
          <p:cNvPr id="22" name="TextBox 21"/>
          <p:cNvSpPr txBox="1"/>
          <p:nvPr/>
        </p:nvSpPr>
        <p:spPr>
          <a:xfrm>
            <a:off x="9098280" y="4983480"/>
            <a:ext cx="2377440" cy="1188720"/>
          </a:xfrm>
          <a:prstGeom prst="rect">
            <a:avLst/>
          </a:prstGeom>
          <a:noFill/>
        </p:spPr>
        <p:txBody>
          <a:bodyPr wrap="square" lIns="0" rIns="0" tIns="0" bIns="0" anchor="t">
            <a:spAutoFit/>
          </a:bodyPr>
          <a:lstStyle/>
          <a:p>
            <a:pPr algn="l">
              <a:lnSpc>
                <a:spcPct val="130000"/>
              </a:lnSpc>
            </a:pPr>
            <a:r>
              <a:rPr sz="1200" b="0" i="0">
                <a:solidFill>
                  <a:srgbClr val="F2F4F7"/>
                </a:solidFill>
                <a:latin typeface="Calibri"/>
              </a:rPr>
              <a:t>0.759 mean PR-AUC (±0.026), well ahead of Random Forest at 0.675.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640080"/>
          </a:xfrm>
          <a:prstGeom prst="rect">
            <a:avLst/>
          </a:prstGeom>
          <a:noFill/>
        </p:spPr>
        <p:txBody>
          <a:bodyPr wrap="square" lIns="0" rIns="0" tIns="0" bIns="0" anchor="t">
            <a:spAutoFit/>
          </a:bodyPr>
          <a:lstStyle/>
          <a:p>
            <a:pPr algn="l">
              <a:lnSpc>
                <a:spcPct val="115000"/>
              </a:lnSpc>
            </a:pPr>
            <a:r>
              <a:rPr sz="3200" b="1" i="0">
                <a:solidFill>
                  <a:srgbClr val="21295C"/>
                </a:solidFill>
                <a:latin typeface="Cambria"/>
              </a:rPr>
              <a:t>Final test results: HistGradientBoosting + tuned threshold</a:t>
            </a:r>
          </a:p>
        </p:txBody>
      </p:sp>
      <p:sp>
        <p:nvSpPr>
          <p:cNvPr id="4" name="Rectangle 3"/>
          <p:cNvSpPr/>
          <p:nvPr/>
        </p:nvSpPr>
        <p:spPr>
          <a:xfrm>
            <a:off x="548640" y="128016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73152"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0.882</a:t>
            </a:r>
          </a:p>
        </p:txBody>
      </p:sp>
      <p:sp>
        <p:nvSpPr>
          <p:cNvPr id="7" name="TextBox 6"/>
          <p:cNvSpPr txBox="1"/>
          <p:nvPr/>
        </p:nvSpPr>
        <p:spPr>
          <a:xfrm>
            <a:off x="822960" y="219456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PR-AUC</a:t>
            </a:r>
          </a:p>
        </p:txBody>
      </p:sp>
      <p:sp>
        <p:nvSpPr>
          <p:cNvPr id="8" name="Rectangle 7"/>
          <p:cNvSpPr/>
          <p:nvPr/>
        </p:nvSpPr>
        <p:spPr>
          <a:xfrm>
            <a:off x="3383280" y="128016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83280" y="1280160"/>
            <a:ext cx="73152"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46304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0.804</a:t>
            </a:r>
          </a:p>
        </p:txBody>
      </p:sp>
      <p:sp>
        <p:nvSpPr>
          <p:cNvPr id="11" name="TextBox 10"/>
          <p:cNvSpPr txBox="1"/>
          <p:nvPr/>
        </p:nvSpPr>
        <p:spPr>
          <a:xfrm>
            <a:off x="3657600" y="219456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Recall (failures caught)</a:t>
            </a:r>
          </a:p>
        </p:txBody>
      </p:sp>
      <p:sp>
        <p:nvSpPr>
          <p:cNvPr id="12" name="Rectangle 11"/>
          <p:cNvSpPr/>
          <p:nvPr/>
        </p:nvSpPr>
        <p:spPr>
          <a:xfrm>
            <a:off x="548640" y="292608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926080"/>
            <a:ext cx="73152"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0896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0.911</a:t>
            </a:r>
          </a:p>
        </p:txBody>
      </p:sp>
      <p:sp>
        <p:nvSpPr>
          <p:cNvPr id="15" name="TextBox 14"/>
          <p:cNvSpPr txBox="1"/>
          <p:nvPr/>
        </p:nvSpPr>
        <p:spPr>
          <a:xfrm>
            <a:off x="822960" y="384048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Precision</a:t>
            </a:r>
          </a:p>
        </p:txBody>
      </p:sp>
      <p:sp>
        <p:nvSpPr>
          <p:cNvPr id="16" name="Rectangle 15"/>
          <p:cNvSpPr/>
          <p:nvPr/>
        </p:nvSpPr>
        <p:spPr>
          <a:xfrm>
            <a:off x="3383280" y="292608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2926080"/>
            <a:ext cx="73152" cy="14630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310896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0.854</a:t>
            </a:r>
          </a:p>
        </p:txBody>
      </p:sp>
      <p:sp>
        <p:nvSpPr>
          <p:cNvPr id="19" name="TextBox 18"/>
          <p:cNvSpPr txBox="1"/>
          <p:nvPr/>
        </p:nvSpPr>
        <p:spPr>
          <a:xfrm>
            <a:off x="3657600" y="384048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F1 score</a:t>
            </a:r>
          </a:p>
        </p:txBody>
      </p:sp>
      <p:sp>
        <p:nvSpPr>
          <p:cNvPr id="20" name="Rectangle 19"/>
          <p:cNvSpPr/>
          <p:nvPr/>
        </p:nvSpPr>
        <p:spPr>
          <a:xfrm>
            <a:off x="548640" y="457200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572000"/>
            <a:ext cx="73152" cy="1463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75488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0.981</a:t>
            </a:r>
          </a:p>
        </p:txBody>
      </p:sp>
      <p:sp>
        <p:nvSpPr>
          <p:cNvPr id="23" name="TextBox 22"/>
          <p:cNvSpPr txBox="1"/>
          <p:nvPr/>
        </p:nvSpPr>
        <p:spPr>
          <a:xfrm>
            <a:off x="822960" y="548640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ROC-AUC</a:t>
            </a:r>
          </a:p>
        </p:txBody>
      </p:sp>
      <p:sp>
        <p:nvSpPr>
          <p:cNvPr id="24" name="Rectangle 23"/>
          <p:cNvSpPr/>
          <p:nvPr/>
        </p:nvSpPr>
        <p:spPr>
          <a:xfrm>
            <a:off x="3383280" y="4572000"/>
            <a:ext cx="2697480" cy="1463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83280" y="4572000"/>
            <a:ext cx="73152" cy="14630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0" y="4754880"/>
            <a:ext cx="2240280" cy="822960"/>
          </a:xfrm>
          <a:prstGeom prst="rect">
            <a:avLst/>
          </a:prstGeom>
          <a:noFill/>
        </p:spPr>
        <p:txBody>
          <a:bodyPr wrap="square" lIns="0" rIns="0" tIns="0" bIns="0" anchor="t">
            <a:spAutoFit/>
          </a:bodyPr>
          <a:lstStyle/>
          <a:p>
            <a:pPr algn="l">
              <a:lnSpc>
                <a:spcPct val="115000"/>
              </a:lnSpc>
            </a:pPr>
            <a:r>
              <a:rPr sz="3600" b="1" i="0">
                <a:solidFill>
                  <a:srgbClr val="21295C"/>
                </a:solidFill>
                <a:latin typeface="Cambria"/>
              </a:rPr>
              <a:t>0.991</a:t>
            </a:r>
          </a:p>
        </p:txBody>
      </p:sp>
      <p:sp>
        <p:nvSpPr>
          <p:cNvPr id="27" name="TextBox 26"/>
          <p:cNvSpPr txBox="1"/>
          <p:nvPr/>
        </p:nvSpPr>
        <p:spPr>
          <a:xfrm>
            <a:off x="3657600" y="5486400"/>
            <a:ext cx="2240280" cy="457200"/>
          </a:xfrm>
          <a:prstGeom prst="rect">
            <a:avLst/>
          </a:prstGeom>
          <a:noFill/>
        </p:spPr>
        <p:txBody>
          <a:bodyPr wrap="square" lIns="0" rIns="0" tIns="0" bIns="0" anchor="t">
            <a:spAutoFit/>
          </a:bodyPr>
          <a:lstStyle/>
          <a:p>
            <a:pPr algn="l">
              <a:lnSpc>
                <a:spcPct val="120000"/>
              </a:lnSpc>
            </a:pPr>
            <a:r>
              <a:rPr sz="1200" b="0" i="0">
                <a:solidFill>
                  <a:srgbClr val="6B7389"/>
                </a:solidFill>
                <a:latin typeface="Calibri"/>
              </a:rPr>
              <a:t>Accuracy</a:t>
            </a:r>
          </a:p>
        </p:txBody>
      </p:sp>
      <p:sp>
        <p:nvSpPr>
          <p:cNvPr id="28" name="Rectangle 27"/>
          <p:cNvSpPr/>
          <p:nvPr/>
        </p:nvSpPr>
        <p:spPr>
          <a:xfrm>
            <a:off x="6400800" y="1280160"/>
            <a:ext cx="5349240" cy="4754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1463040"/>
            <a:ext cx="4800600"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Cambria"/>
              </a:rPr>
              <a:t>Confusion matrix (held-out test set)</a:t>
            </a:r>
          </a:p>
        </p:txBody>
      </p:sp>
      <p:sp>
        <p:nvSpPr>
          <p:cNvPr id="30" name="TextBox 29"/>
          <p:cNvSpPr txBox="1"/>
          <p:nvPr/>
        </p:nvSpPr>
        <p:spPr>
          <a:xfrm>
            <a:off x="6675120" y="1920240"/>
            <a:ext cx="4800600" cy="365760"/>
          </a:xfrm>
          <a:prstGeom prst="rect">
            <a:avLst/>
          </a:prstGeom>
          <a:noFill/>
        </p:spPr>
        <p:txBody>
          <a:bodyPr wrap="square" lIns="0" rIns="0" tIns="0" bIns="0" anchor="t">
            <a:spAutoFit/>
          </a:bodyPr>
          <a:lstStyle/>
          <a:p>
            <a:pPr algn="l">
              <a:lnSpc>
                <a:spcPct val="115000"/>
              </a:lnSpc>
            </a:pPr>
            <a:r>
              <a:rPr sz="1200" b="0" i="1">
                <a:solidFill>
                  <a:srgbClr val="6B7389"/>
                </a:solidFill>
                <a:latin typeface="Calibri"/>
              </a:rPr>
              <a:t>Threshold = 0.496, chosen by F1-max on validation</a:t>
            </a:r>
          </a:p>
        </p:txBody>
      </p:sp>
      <p:sp>
        <p:nvSpPr>
          <p:cNvPr id="31" name="TextBox 30"/>
          <p:cNvSpPr txBox="1"/>
          <p:nvPr/>
        </p:nvSpPr>
        <p:spPr>
          <a:xfrm>
            <a:off x="7680960" y="2194560"/>
            <a:ext cx="3657600" cy="274320"/>
          </a:xfrm>
          <a:prstGeom prst="rect">
            <a:avLst/>
          </a:prstGeom>
          <a:noFill/>
        </p:spPr>
        <p:txBody>
          <a:bodyPr wrap="square" lIns="0" rIns="0" tIns="0" bIns="0" anchor="t">
            <a:spAutoFit/>
          </a:bodyPr>
          <a:lstStyle/>
          <a:p>
            <a:pPr algn="ctr">
              <a:lnSpc>
                <a:spcPct val="115000"/>
              </a:lnSpc>
            </a:pPr>
            <a:r>
              <a:rPr sz="1200" b="0" i="1">
                <a:solidFill>
                  <a:srgbClr val="6B7389"/>
                </a:solidFill>
                <a:latin typeface="Calibri"/>
              </a:rPr>
              <a:t>Predicted</a:t>
            </a:r>
          </a:p>
        </p:txBody>
      </p:sp>
      <p:sp>
        <p:nvSpPr>
          <p:cNvPr id="32" name="TextBox 31"/>
          <p:cNvSpPr txBox="1"/>
          <p:nvPr/>
        </p:nvSpPr>
        <p:spPr>
          <a:xfrm>
            <a:off x="7680960" y="2560320"/>
            <a:ext cx="1828800" cy="274320"/>
          </a:xfrm>
          <a:prstGeom prst="rect">
            <a:avLst/>
          </a:prstGeom>
          <a:noFill/>
        </p:spPr>
        <p:txBody>
          <a:bodyPr wrap="square" lIns="0" rIns="0" tIns="0" bIns="0" anchor="t">
            <a:spAutoFit/>
          </a:bodyPr>
          <a:lstStyle/>
          <a:p>
            <a:pPr algn="ctr">
              <a:lnSpc>
                <a:spcPct val="115000"/>
              </a:lnSpc>
            </a:pPr>
            <a:r>
              <a:rPr sz="1100" b="1" i="0">
                <a:solidFill>
                  <a:srgbClr val="1A1F33"/>
                </a:solidFill>
                <a:latin typeface="Calibri"/>
              </a:rPr>
              <a:t>No failure</a:t>
            </a:r>
          </a:p>
        </p:txBody>
      </p:sp>
      <p:sp>
        <p:nvSpPr>
          <p:cNvPr id="33" name="TextBox 32"/>
          <p:cNvSpPr txBox="1"/>
          <p:nvPr/>
        </p:nvSpPr>
        <p:spPr>
          <a:xfrm>
            <a:off x="9509760" y="2560320"/>
            <a:ext cx="1828800" cy="274320"/>
          </a:xfrm>
          <a:prstGeom prst="rect">
            <a:avLst/>
          </a:prstGeom>
          <a:noFill/>
        </p:spPr>
        <p:txBody>
          <a:bodyPr wrap="square" lIns="0" rIns="0" tIns="0" bIns="0" anchor="t">
            <a:spAutoFit/>
          </a:bodyPr>
          <a:lstStyle/>
          <a:p>
            <a:pPr algn="ctr">
              <a:lnSpc>
                <a:spcPct val="115000"/>
              </a:lnSpc>
            </a:pPr>
            <a:r>
              <a:rPr sz="1100" b="1" i="0">
                <a:solidFill>
                  <a:srgbClr val="1A1F33"/>
                </a:solidFill>
                <a:latin typeface="Calibri"/>
              </a:rPr>
              <a:t>Failure</a:t>
            </a:r>
          </a:p>
        </p:txBody>
      </p:sp>
      <p:sp>
        <p:nvSpPr>
          <p:cNvPr id="34" name="TextBox 33"/>
          <p:cNvSpPr txBox="1"/>
          <p:nvPr/>
        </p:nvSpPr>
        <p:spPr>
          <a:xfrm>
            <a:off x="6537960" y="3429000"/>
            <a:ext cx="1005840" cy="365760"/>
          </a:xfrm>
          <a:prstGeom prst="rect">
            <a:avLst/>
          </a:prstGeom>
          <a:noFill/>
        </p:spPr>
        <p:txBody>
          <a:bodyPr wrap="square" lIns="0" rIns="0" tIns="0" bIns="0" anchor="t">
            <a:spAutoFit/>
          </a:bodyPr>
          <a:lstStyle/>
          <a:p>
            <a:pPr algn="r">
              <a:lnSpc>
                <a:spcPct val="115000"/>
              </a:lnSpc>
            </a:pPr>
            <a:r>
              <a:rPr sz="1100" b="1" i="0">
                <a:solidFill>
                  <a:srgbClr val="1A1F33"/>
                </a:solidFill>
                <a:latin typeface="Calibri"/>
              </a:rPr>
              <a:t>No failure</a:t>
            </a:r>
          </a:p>
        </p:txBody>
      </p:sp>
      <p:sp>
        <p:nvSpPr>
          <p:cNvPr id="35" name="TextBox 34"/>
          <p:cNvSpPr txBox="1"/>
          <p:nvPr/>
        </p:nvSpPr>
        <p:spPr>
          <a:xfrm>
            <a:off x="6537960" y="4709160"/>
            <a:ext cx="1005840" cy="365760"/>
          </a:xfrm>
          <a:prstGeom prst="rect">
            <a:avLst/>
          </a:prstGeom>
          <a:noFill/>
        </p:spPr>
        <p:txBody>
          <a:bodyPr wrap="square" lIns="0" rIns="0" tIns="0" bIns="0" anchor="t">
            <a:spAutoFit/>
          </a:bodyPr>
          <a:lstStyle/>
          <a:p>
            <a:pPr algn="r">
              <a:lnSpc>
                <a:spcPct val="115000"/>
              </a:lnSpc>
            </a:pPr>
            <a:r>
              <a:rPr sz="1100" b="1" i="0">
                <a:solidFill>
                  <a:srgbClr val="1A1F33"/>
                </a:solidFill>
                <a:latin typeface="Calibri"/>
              </a:rPr>
              <a:t>Failure</a:t>
            </a:r>
          </a:p>
        </p:txBody>
      </p:sp>
      <p:sp>
        <p:nvSpPr>
          <p:cNvPr id="36" name="TextBox 35"/>
          <p:cNvSpPr txBox="1"/>
          <p:nvPr/>
        </p:nvSpPr>
        <p:spPr>
          <a:xfrm>
            <a:off x="6080760" y="3886200"/>
            <a:ext cx="457200" cy="457200"/>
          </a:xfrm>
          <a:prstGeom prst="rect">
            <a:avLst/>
          </a:prstGeom>
          <a:noFill/>
        </p:spPr>
        <p:txBody>
          <a:bodyPr wrap="square" lIns="0" rIns="0" tIns="0" bIns="0" anchor="t">
            <a:spAutoFit/>
          </a:bodyPr>
          <a:lstStyle/>
          <a:p>
            <a:pPr algn="ctr">
              <a:lnSpc>
                <a:spcPct val="115000"/>
              </a:lnSpc>
            </a:pPr>
            <a:r>
              <a:rPr sz="1200" b="0" i="1">
                <a:solidFill>
                  <a:srgbClr val="6B7389"/>
                </a:solidFill>
                <a:latin typeface="Calibri"/>
              </a:rPr>
              <a:t>Actual</a:t>
            </a:r>
          </a:p>
        </p:txBody>
      </p:sp>
      <p:sp>
        <p:nvSpPr>
          <p:cNvPr id="37" name="Rectangle 36"/>
          <p:cNvSpPr/>
          <p:nvPr/>
        </p:nvSpPr>
        <p:spPr>
          <a:xfrm>
            <a:off x="7680960" y="2971800"/>
            <a:ext cx="1828800" cy="1280160"/>
          </a:xfrm>
          <a:prstGeom prst="rect">
            <a:avLst/>
          </a:prstGeom>
          <a:solidFill>
            <a:srgbClr val="2C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0" y="3200400"/>
            <a:ext cx="1828800" cy="640080"/>
          </a:xfrm>
          <a:prstGeom prst="rect">
            <a:avLst/>
          </a:prstGeom>
          <a:noFill/>
        </p:spPr>
        <p:txBody>
          <a:bodyPr wrap="square" lIns="0" rIns="0" tIns="0" bIns="0" anchor="t">
            <a:spAutoFit/>
          </a:bodyPr>
          <a:lstStyle/>
          <a:p>
            <a:pPr algn="ctr">
              <a:lnSpc>
                <a:spcPct val="115000"/>
              </a:lnSpc>
            </a:pPr>
            <a:r>
              <a:rPr sz="3200" b="1" i="0">
                <a:solidFill>
                  <a:srgbClr val="FFFFFF"/>
                </a:solidFill>
                <a:latin typeface="Cambria"/>
              </a:rPr>
              <a:t>1445</a:t>
            </a:r>
          </a:p>
        </p:txBody>
      </p:sp>
      <p:sp>
        <p:nvSpPr>
          <p:cNvPr id="39" name="TextBox 38"/>
          <p:cNvSpPr txBox="1"/>
          <p:nvPr/>
        </p:nvSpPr>
        <p:spPr>
          <a:xfrm>
            <a:off x="7680960" y="3840480"/>
            <a:ext cx="1828800" cy="365760"/>
          </a:xfrm>
          <a:prstGeom prst="rect">
            <a:avLst/>
          </a:prstGeom>
          <a:noFill/>
        </p:spPr>
        <p:txBody>
          <a:bodyPr wrap="square" lIns="0" rIns="0" tIns="0" bIns="0" anchor="t">
            <a:spAutoFit/>
          </a:bodyPr>
          <a:lstStyle/>
          <a:p>
            <a:pPr algn="ctr">
              <a:lnSpc>
                <a:spcPct val="115000"/>
              </a:lnSpc>
            </a:pPr>
            <a:r>
              <a:rPr sz="1100" b="0" i="0">
                <a:solidFill>
                  <a:srgbClr val="FFFFFF"/>
                </a:solidFill>
                <a:latin typeface="Calibri"/>
              </a:rPr>
              <a:t>True negative</a:t>
            </a:r>
          </a:p>
        </p:txBody>
      </p:sp>
      <p:sp>
        <p:nvSpPr>
          <p:cNvPr id="40" name="Rectangle 39"/>
          <p:cNvSpPr/>
          <p:nvPr/>
        </p:nvSpPr>
        <p:spPr>
          <a:xfrm>
            <a:off x="9509760" y="2971800"/>
            <a:ext cx="1828800" cy="1280160"/>
          </a:xfrm>
          <a:prstGeom prst="rect">
            <a:avLst/>
          </a:prstGeom>
          <a:solidFill>
            <a:srgbClr val="6B7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09760" y="3200400"/>
            <a:ext cx="1828800" cy="640080"/>
          </a:xfrm>
          <a:prstGeom prst="rect">
            <a:avLst/>
          </a:prstGeom>
          <a:noFill/>
        </p:spPr>
        <p:txBody>
          <a:bodyPr wrap="square" lIns="0" rIns="0" tIns="0" bIns="0" anchor="t">
            <a:spAutoFit/>
          </a:bodyPr>
          <a:lstStyle/>
          <a:p>
            <a:pPr algn="ctr">
              <a:lnSpc>
                <a:spcPct val="115000"/>
              </a:lnSpc>
            </a:pPr>
            <a:r>
              <a:rPr sz="3200" b="1" i="0">
                <a:solidFill>
                  <a:srgbClr val="FFFFFF"/>
                </a:solidFill>
                <a:latin typeface="Cambria"/>
              </a:rPr>
              <a:t>4</a:t>
            </a:r>
          </a:p>
        </p:txBody>
      </p:sp>
      <p:sp>
        <p:nvSpPr>
          <p:cNvPr id="42" name="TextBox 41"/>
          <p:cNvSpPr txBox="1"/>
          <p:nvPr/>
        </p:nvSpPr>
        <p:spPr>
          <a:xfrm>
            <a:off x="9509760" y="3840480"/>
            <a:ext cx="1828800" cy="365760"/>
          </a:xfrm>
          <a:prstGeom prst="rect">
            <a:avLst/>
          </a:prstGeom>
          <a:noFill/>
        </p:spPr>
        <p:txBody>
          <a:bodyPr wrap="square" lIns="0" rIns="0" tIns="0" bIns="0" anchor="t">
            <a:spAutoFit/>
          </a:bodyPr>
          <a:lstStyle/>
          <a:p>
            <a:pPr algn="ctr">
              <a:lnSpc>
                <a:spcPct val="115000"/>
              </a:lnSpc>
            </a:pPr>
            <a:r>
              <a:rPr sz="1100" b="0" i="0">
                <a:solidFill>
                  <a:srgbClr val="FFFFFF"/>
                </a:solidFill>
                <a:latin typeface="Calibri"/>
              </a:rPr>
              <a:t>False positive</a:t>
            </a:r>
          </a:p>
        </p:txBody>
      </p:sp>
      <p:sp>
        <p:nvSpPr>
          <p:cNvPr id="43" name="Rectangle 42"/>
          <p:cNvSpPr/>
          <p:nvPr/>
        </p:nvSpPr>
        <p:spPr>
          <a:xfrm>
            <a:off x="7680960" y="4251960"/>
            <a:ext cx="1828800" cy="12801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0" y="4480560"/>
            <a:ext cx="1828800" cy="640080"/>
          </a:xfrm>
          <a:prstGeom prst="rect">
            <a:avLst/>
          </a:prstGeom>
          <a:noFill/>
        </p:spPr>
        <p:txBody>
          <a:bodyPr wrap="square" lIns="0" rIns="0" tIns="0" bIns="0" anchor="t">
            <a:spAutoFit/>
          </a:bodyPr>
          <a:lstStyle/>
          <a:p>
            <a:pPr algn="ctr">
              <a:lnSpc>
                <a:spcPct val="115000"/>
              </a:lnSpc>
            </a:pPr>
            <a:r>
              <a:rPr sz="3200" b="1" i="0">
                <a:solidFill>
                  <a:srgbClr val="FFFFFF"/>
                </a:solidFill>
                <a:latin typeface="Cambria"/>
              </a:rPr>
              <a:t>10</a:t>
            </a:r>
          </a:p>
        </p:txBody>
      </p:sp>
      <p:sp>
        <p:nvSpPr>
          <p:cNvPr id="45" name="TextBox 44"/>
          <p:cNvSpPr txBox="1"/>
          <p:nvPr/>
        </p:nvSpPr>
        <p:spPr>
          <a:xfrm>
            <a:off x="7680960" y="5120640"/>
            <a:ext cx="1828800" cy="365760"/>
          </a:xfrm>
          <a:prstGeom prst="rect">
            <a:avLst/>
          </a:prstGeom>
          <a:noFill/>
        </p:spPr>
        <p:txBody>
          <a:bodyPr wrap="square" lIns="0" rIns="0" tIns="0" bIns="0" anchor="t">
            <a:spAutoFit/>
          </a:bodyPr>
          <a:lstStyle/>
          <a:p>
            <a:pPr algn="ctr">
              <a:lnSpc>
                <a:spcPct val="115000"/>
              </a:lnSpc>
            </a:pPr>
            <a:r>
              <a:rPr sz="1100" b="0" i="0">
                <a:solidFill>
                  <a:srgbClr val="FFFFFF"/>
                </a:solidFill>
                <a:latin typeface="Calibri"/>
              </a:rPr>
              <a:t>False negative</a:t>
            </a:r>
          </a:p>
        </p:txBody>
      </p:sp>
      <p:sp>
        <p:nvSpPr>
          <p:cNvPr id="46" name="Rectangle 45"/>
          <p:cNvSpPr/>
          <p:nvPr/>
        </p:nvSpPr>
        <p:spPr>
          <a:xfrm>
            <a:off x="9509760" y="4251960"/>
            <a:ext cx="1828800" cy="1280160"/>
          </a:xfrm>
          <a:prstGeom prst="rect">
            <a:avLst/>
          </a:prstGeom>
          <a:solidFill>
            <a:srgbClr val="2C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09760" y="4480560"/>
            <a:ext cx="1828800" cy="640080"/>
          </a:xfrm>
          <a:prstGeom prst="rect">
            <a:avLst/>
          </a:prstGeom>
          <a:noFill/>
        </p:spPr>
        <p:txBody>
          <a:bodyPr wrap="square" lIns="0" rIns="0" tIns="0" bIns="0" anchor="t">
            <a:spAutoFit/>
          </a:bodyPr>
          <a:lstStyle/>
          <a:p>
            <a:pPr algn="ctr">
              <a:lnSpc>
                <a:spcPct val="115000"/>
              </a:lnSpc>
            </a:pPr>
            <a:r>
              <a:rPr sz="3200" b="1" i="0">
                <a:solidFill>
                  <a:srgbClr val="FFFFFF"/>
                </a:solidFill>
                <a:latin typeface="Cambria"/>
              </a:rPr>
              <a:t>41</a:t>
            </a:r>
          </a:p>
        </p:txBody>
      </p:sp>
      <p:sp>
        <p:nvSpPr>
          <p:cNvPr id="48" name="TextBox 47"/>
          <p:cNvSpPr txBox="1"/>
          <p:nvPr/>
        </p:nvSpPr>
        <p:spPr>
          <a:xfrm>
            <a:off x="9509760" y="5120640"/>
            <a:ext cx="1828800" cy="365760"/>
          </a:xfrm>
          <a:prstGeom prst="rect">
            <a:avLst/>
          </a:prstGeom>
          <a:noFill/>
        </p:spPr>
        <p:txBody>
          <a:bodyPr wrap="square" lIns="0" rIns="0" tIns="0" bIns="0" anchor="t">
            <a:spAutoFit/>
          </a:bodyPr>
          <a:lstStyle/>
          <a:p>
            <a:pPr algn="ctr">
              <a:lnSpc>
                <a:spcPct val="115000"/>
              </a:lnSpc>
            </a:pPr>
            <a:r>
              <a:rPr sz="1100" b="0" i="0">
                <a:solidFill>
                  <a:srgbClr val="FFFFFF"/>
                </a:solidFill>
                <a:latin typeface="Calibri"/>
              </a:rPr>
              <a:t>True positive</a:t>
            </a:r>
          </a:p>
        </p:txBody>
      </p:sp>
      <p:sp>
        <p:nvSpPr>
          <p:cNvPr id="49" name="TextBox 48"/>
          <p:cNvSpPr txBox="1"/>
          <p:nvPr/>
        </p:nvSpPr>
        <p:spPr>
          <a:xfrm>
            <a:off x="6675120" y="5486400"/>
            <a:ext cx="4800600" cy="365760"/>
          </a:xfrm>
          <a:prstGeom prst="rect">
            <a:avLst/>
          </a:prstGeom>
          <a:noFill/>
        </p:spPr>
        <p:txBody>
          <a:bodyPr wrap="square" lIns="0" rIns="0" tIns="0" bIns="0" anchor="t">
            <a:spAutoFit/>
          </a:bodyPr>
          <a:lstStyle/>
          <a:p>
            <a:pPr algn="l">
              <a:lnSpc>
                <a:spcPct val="115000"/>
              </a:lnSpc>
            </a:pPr>
            <a:r>
              <a:rPr sz="1300" b="0" i="1">
                <a:solidFill>
                  <a:srgbClr val="21295C"/>
                </a:solidFill>
                <a:latin typeface="Calibri"/>
              </a:rPr>
              <a:t>Caught 41 of 51 real failures with only 4 false alarms.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640080"/>
          </a:xfrm>
          <a:prstGeom prst="rect">
            <a:avLst/>
          </a:prstGeom>
          <a:noFill/>
        </p:spPr>
        <p:txBody>
          <a:bodyPr wrap="square" lIns="0" rIns="0" tIns="0" bIns="0" anchor="t">
            <a:spAutoFit/>
          </a:bodyPr>
          <a:lstStyle/>
          <a:p>
            <a:pPr algn="l">
              <a:lnSpc>
                <a:spcPct val="115000"/>
              </a:lnSpc>
            </a:pPr>
            <a:r>
              <a:rPr sz="3200" b="1" i="0">
                <a:solidFill>
                  <a:srgbClr val="21295C"/>
                </a:solidFill>
                <a:latin typeface="Cambria"/>
              </a:rPr>
              <a:t>Real finding: the model fails on Type H machines</a:t>
            </a:r>
          </a:p>
        </p:txBody>
      </p:sp>
      <p:sp>
        <p:nvSpPr>
          <p:cNvPr id="4" name="Rectangle 3"/>
          <p:cNvSpPr/>
          <p:nvPr/>
        </p:nvSpPr>
        <p:spPr>
          <a:xfrm>
            <a:off x="548640" y="1280160"/>
            <a:ext cx="7498079" cy="4023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6949439" cy="457200"/>
          </a:xfrm>
          <a:prstGeom prst="rect">
            <a:avLst/>
          </a:prstGeom>
          <a:noFill/>
        </p:spPr>
        <p:txBody>
          <a:bodyPr wrap="square" lIns="0" rIns="0" tIns="0" bIns="0" anchor="t">
            <a:spAutoFit/>
          </a:bodyPr>
          <a:lstStyle/>
          <a:p>
            <a:pPr algn="l">
              <a:lnSpc>
                <a:spcPct val="115000"/>
              </a:lnSpc>
            </a:pPr>
            <a:r>
              <a:rPr sz="1800" b="1" i="0">
                <a:solidFill>
                  <a:srgbClr val="21295C"/>
                </a:solidFill>
                <a:latin typeface="Cambria"/>
              </a:rPr>
              <a:t>Validation-set performance by product quality type</a:t>
            </a:r>
          </a:p>
        </p:txBody>
      </p:sp>
      <p:sp>
        <p:nvSpPr>
          <p:cNvPr id="6" name="TextBox 5"/>
          <p:cNvSpPr txBox="1"/>
          <p:nvPr/>
        </p:nvSpPr>
        <p:spPr>
          <a:xfrm>
            <a:off x="914400" y="2148840"/>
            <a:ext cx="1371600" cy="365760"/>
          </a:xfrm>
          <a:prstGeom prst="rect">
            <a:avLst/>
          </a:prstGeom>
          <a:noFill/>
        </p:spPr>
        <p:txBody>
          <a:bodyPr wrap="square" lIns="0" rIns="0" tIns="0" bIns="0" anchor="t">
            <a:spAutoFit/>
          </a:bodyPr>
          <a:lstStyle/>
          <a:p>
            <a:pPr algn="l">
              <a:lnSpc>
                <a:spcPct val="115000"/>
              </a:lnSpc>
            </a:pPr>
            <a:r>
              <a:rPr sz="1200" b="1" i="0">
                <a:solidFill>
                  <a:srgbClr val="6B7389"/>
                </a:solidFill>
                <a:latin typeface="Calibri"/>
              </a:rPr>
              <a:t>Type</a:t>
            </a:r>
          </a:p>
        </p:txBody>
      </p:sp>
      <p:sp>
        <p:nvSpPr>
          <p:cNvPr id="7" name="TextBox 6"/>
          <p:cNvSpPr txBox="1"/>
          <p:nvPr/>
        </p:nvSpPr>
        <p:spPr>
          <a:xfrm>
            <a:off x="2377440" y="2148840"/>
            <a:ext cx="1280160" cy="365760"/>
          </a:xfrm>
          <a:prstGeom prst="rect">
            <a:avLst/>
          </a:prstGeom>
          <a:noFill/>
        </p:spPr>
        <p:txBody>
          <a:bodyPr wrap="square" lIns="0" rIns="0" tIns="0" bIns="0" anchor="t">
            <a:spAutoFit/>
          </a:bodyPr>
          <a:lstStyle/>
          <a:p>
            <a:pPr algn="l">
              <a:lnSpc>
                <a:spcPct val="115000"/>
              </a:lnSpc>
            </a:pPr>
            <a:r>
              <a:rPr sz="1200" b="1" i="0">
                <a:solidFill>
                  <a:srgbClr val="6B7389"/>
                </a:solidFill>
                <a:latin typeface="Calibri"/>
              </a:rPr>
              <a:t>n</a:t>
            </a:r>
          </a:p>
        </p:txBody>
      </p:sp>
      <p:sp>
        <p:nvSpPr>
          <p:cNvPr id="8" name="TextBox 7"/>
          <p:cNvSpPr txBox="1"/>
          <p:nvPr/>
        </p:nvSpPr>
        <p:spPr>
          <a:xfrm>
            <a:off x="3749040" y="2148840"/>
            <a:ext cx="1371600" cy="365760"/>
          </a:xfrm>
          <a:prstGeom prst="rect">
            <a:avLst/>
          </a:prstGeom>
          <a:noFill/>
        </p:spPr>
        <p:txBody>
          <a:bodyPr wrap="square" lIns="0" rIns="0" tIns="0" bIns="0" anchor="t">
            <a:spAutoFit/>
          </a:bodyPr>
          <a:lstStyle/>
          <a:p>
            <a:pPr algn="l">
              <a:lnSpc>
                <a:spcPct val="115000"/>
              </a:lnSpc>
            </a:pPr>
            <a:r>
              <a:rPr sz="1200" b="1" i="0">
                <a:solidFill>
                  <a:srgbClr val="6B7389"/>
                </a:solidFill>
                <a:latin typeface="Calibri"/>
              </a:rPr>
              <a:t>Failure rate</a:t>
            </a:r>
          </a:p>
        </p:txBody>
      </p:sp>
      <p:sp>
        <p:nvSpPr>
          <p:cNvPr id="9" name="TextBox 8"/>
          <p:cNvSpPr txBox="1"/>
          <p:nvPr/>
        </p:nvSpPr>
        <p:spPr>
          <a:xfrm>
            <a:off x="5212080" y="2148840"/>
            <a:ext cx="1371600" cy="365760"/>
          </a:xfrm>
          <a:prstGeom prst="rect">
            <a:avLst/>
          </a:prstGeom>
          <a:noFill/>
        </p:spPr>
        <p:txBody>
          <a:bodyPr wrap="square" lIns="0" rIns="0" tIns="0" bIns="0" anchor="t">
            <a:spAutoFit/>
          </a:bodyPr>
          <a:lstStyle/>
          <a:p>
            <a:pPr algn="l">
              <a:lnSpc>
                <a:spcPct val="115000"/>
              </a:lnSpc>
            </a:pPr>
            <a:r>
              <a:rPr sz="1200" b="1" i="0">
                <a:solidFill>
                  <a:srgbClr val="6B7389"/>
                </a:solidFill>
                <a:latin typeface="Calibri"/>
              </a:rPr>
              <a:t>Recall</a:t>
            </a:r>
          </a:p>
        </p:txBody>
      </p:sp>
      <p:sp>
        <p:nvSpPr>
          <p:cNvPr id="10" name="TextBox 9"/>
          <p:cNvSpPr txBox="1"/>
          <p:nvPr/>
        </p:nvSpPr>
        <p:spPr>
          <a:xfrm>
            <a:off x="6675120" y="2148840"/>
            <a:ext cx="1280160" cy="365760"/>
          </a:xfrm>
          <a:prstGeom prst="rect">
            <a:avLst/>
          </a:prstGeom>
          <a:noFill/>
        </p:spPr>
        <p:txBody>
          <a:bodyPr wrap="square" lIns="0" rIns="0" tIns="0" bIns="0" anchor="t">
            <a:spAutoFit/>
          </a:bodyPr>
          <a:lstStyle/>
          <a:p>
            <a:pPr algn="l">
              <a:lnSpc>
                <a:spcPct val="115000"/>
              </a:lnSpc>
            </a:pPr>
            <a:r>
              <a:rPr sz="1200" b="1" i="0">
                <a:solidFill>
                  <a:srgbClr val="6B7389"/>
                </a:solidFill>
                <a:latin typeface="Calibri"/>
              </a:rPr>
              <a:t>Precision</a:t>
            </a:r>
          </a:p>
        </p:txBody>
      </p:sp>
      <p:sp>
        <p:nvSpPr>
          <p:cNvPr id="11" name="TextBox 10"/>
          <p:cNvSpPr txBox="1"/>
          <p:nvPr/>
        </p:nvSpPr>
        <p:spPr>
          <a:xfrm>
            <a:off x="914400" y="2560320"/>
            <a:ext cx="1371600" cy="457200"/>
          </a:xfrm>
          <a:prstGeom prst="rect">
            <a:avLst/>
          </a:prstGeom>
          <a:noFill/>
        </p:spPr>
        <p:txBody>
          <a:bodyPr wrap="square" lIns="0" rIns="0" tIns="0" bIns="0" anchor="t">
            <a:spAutoFit/>
          </a:bodyPr>
          <a:lstStyle/>
          <a:p>
            <a:pPr algn="l">
              <a:lnSpc>
                <a:spcPct val="115000"/>
              </a:lnSpc>
            </a:pPr>
            <a:r>
              <a:rPr sz="1500" b="1" i="0">
                <a:solidFill>
                  <a:srgbClr val="1A1F33"/>
                </a:solidFill>
                <a:latin typeface="Calibri"/>
              </a:rPr>
              <a:t>L</a:t>
            </a:r>
          </a:p>
        </p:txBody>
      </p:sp>
      <p:sp>
        <p:nvSpPr>
          <p:cNvPr id="12" name="TextBox 11"/>
          <p:cNvSpPr txBox="1"/>
          <p:nvPr/>
        </p:nvSpPr>
        <p:spPr>
          <a:xfrm>
            <a:off x="2377440" y="2560320"/>
            <a:ext cx="128016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924</a:t>
            </a:r>
          </a:p>
        </p:txBody>
      </p:sp>
      <p:sp>
        <p:nvSpPr>
          <p:cNvPr id="13" name="TextBox 12"/>
          <p:cNvSpPr txBox="1"/>
          <p:nvPr/>
        </p:nvSpPr>
        <p:spPr>
          <a:xfrm>
            <a:off x="3749040" y="2560320"/>
            <a:ext cx="137160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4.0%</a:t>
            </a:r>
          </a:p>
        </p:txBody>
      </p:sp>
      <p:sp>
        <p:nvSpPr>
          <p:cNvPr id="14" name="TextBox 13"/>
          <p:cNvSpPr txBox="1"/>
          <p:nvPr/>
        </p:nvSpPr>
        <p:spPr>
          <a:xfrm>
            <a:off x="5212080" y="2560320"/>
            <a:ext cx="137160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0.649</a:t>
            </a:r>
          </a:p>
        </p:txBody>
      </p:sp>
      <p:sp>
        <p:nvSpPr>
          <p:cNvPr id="15" name="TextBox 14"/>
          <p:cNvSpPr txBox="1"/>
          <p:nvPr/>
        </p:nvSpPr>
        <p:spPr>
          <a:xfrm>
            <a:off x="6675120" y="2560320"/>
            <a:ext cx="128016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0.96</a:t>
            </a:r>
          </a:p>
        </p:txBody>
      </p:sp>
      <p:sp>
        <p:nvSpPr>
          <p:cNvPr id="16" name="TextBox 15"/>
          <p:cNvSpPr txBox="1"/>
          <p:nvPr/>
        </p:nvSpPr>
        <p:spPr>
          <a:xfrm>
            <a:off x="914400" y="3200400"/>
            <a:ext cx="1371600" cy="457200"/>
          </a:xfrm>
          <a:prstGeom prst="rect">
            <a:avLst/>
          </a:prstGeom>
          <a:noFill/>
        </p:spPr>
        <p:txBody>
          <a:bodyPr wrap="square" lIns="0" rIns="0" tIns="0" bIns="0" anchor="t">
            <a:spAutoFit/>
          </a:bodyPr>
          <a:lstStyle/>
          <a:p>
            <a:pPr algn="l">
              <a:lnSpc>
                <a:spcPct val="115000"/>
              </a:lnSpc>
            </a:pPr>
            <a:r>
              <a:rPr sz="1500" b="1" i="0">
                <a:solidFill>
                  <a:srgbClr val="1A1F33"/>
                </a:solidFill>
                <a:latin typeface="Calibri"/>
              </a:rPr>
              <a:t>M</a:t>
            </a:r>
          </a:p>
        </p:txBody>
      </p:sp>
      <p:sp>
        <p:nvSpPr>
          <p:cNvPr id="17" name="TextBox 16"/>
          <p:cNvSpPr txBox="1"/>
          <p:nvPr/>
        </p:nvSpPr>
        <p:spPr>
          <a:xfrm>
            <a:off x="2377440" y="3200400"/>
            <a:ext cx="128016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459</a:t>
            </a:r>
          </a:p>
        </p:txBody>
      </p:sp>
      <p:sp>
        <p:nvSpPr>
          <p:cNvPr id="18" name="TextBox 17"/>
          <p:cNvSpPr txBox="1"/>
          <p:nvPr/>
        </p:nvSpPr>
        <p:spPr>
          <a:xfrm>
            <a:off x="3749040" y="3200400"/>
            <a:ext cx="137160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2.2%</a:t>
            </a:r>
          </a:p>
        </p:txBody>
      </p:sp>
      <p:sp>
        <p:nvSpPr>
          <p:cNvPr id="19" name="TextBox 18"/>
          <p:cNvSpPr txBox="1"/>
          <p:nvPr/>
        </p:nvSpPr>
        <p:spPr>
          <a:xfrm>
            <a:off x="5212080" y="3200400"/>
            <a:ext cx="137160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0.700</a:t>
            </a:r>
          </a:p>
        </p:txBody>
      </p:sp>
      <p:sp>
        <p:nvSpPr>
          <p:cNvPr id="20" name="TextBox 19"/>
          <p:cNvSpPr txBox="1"/>
          <p:nvPr/>
        </p:nvSpPr>
        <p:spPr>
          <a:xfrm>
            <a:off x="6675120" y="3200400"/>
            <a:ext cx="1280160" cy="457200"/>
          </a:xfrm>
          <a:prstGeom prst="rect">
            <a:avLst/>
          </a:prstGeom>
          <a:noFill/>
        </p:spPr>
        <p:txBody>
          <a:bodyPr wrap="square" lIns="0" rIns="0" tIns="0" bIns="0" anchor="t">
            <a:spAutoFit/>
          </a:bodyPr>
          <a:lstStyle/>
          <a:p>
            <a:pPr algn="l">
              <a:lnSpc>
                <a:spcPct val="115000"/>
              </a:lnSpc>
            </a:pPr>
            <a:r>
              <a:rPr sz="1500" b="0" i="0">
                <a:solidFill>
                  <a:srgbClr val="1A1F33"/>
                </a:solidFill>
                <a:latin typeface="Calibri"/>
              </a:rPr>
              <a:t>0.70</a:t>
            </a:r>
          </a:p>
        </p:txBody>
      </p:sp>
      <p:sp>
        <p:nvSpPr>
          <p:cNvPr id="21" name="Rectangle 20"/>
          <p:cNvSpPr/>
          <p:nvPr/>
        </p:nvSpPr>
        <p:spPr>
          <a:xfrm>
            <a:off x="685800" y="3794760"/>
            <a:ext cx="7223759" cy="594360"/>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840480"/>
            <a:ext cx="1371600" cy="457200"/>
          </a:xfrm>
          <a:prstGeom prst="rect">
            <a:avLst/>
          </a:prstGeom>
          <a:noFill/>
        </p:spPr>
        <p:txBody>
          <a:bodyPr wrap="square" lIns="0" rIns="0" tIns="0" bIns="0" anchor="t">
            <a:spAutoFit/>
          </a:bodyPr>
          <a:lstStyle/>
          <a:p>
            <a:pPr algn="l">
              <a:lnSpc>
                <a:spcPct val="115000"/>
              </a:lnSpc>
            </a:pPr>
            <a:r>
              <a:rPr sz="1500" b="1" i="0">
                <a:solidFill>
                  <a:srgbClr val="C0392B"/>
                </a:solidFill>
                <a:latin typeface="Calibri"/>
              </a:rPr>
              <a:t>H</a:t>
            </a:r>
          </a:p>
        </p:txBody>
      </p:sp>
      <p:sp>
        <p:nvSpPr>
          <p:cNvPr id="23" name="TextBox 22"/>
          <p:cNvSpPr txBox="1"/>
          <p:nvPr/>
        </p:nvSpPr>
        <p:spPr>
          <a:xfrm>
            <a:off x="2377440" y="3840480"/>
            <a:ext cx="1280160" cy="457200"/>
          </a:xfrm>
          <a:prstGeom prst="rect">
            <a:avLst/>
          </a:prstGeom>
          <a:noFill/>
        </p:spPr>
        <p:txBody>
          <a:bodyPr wrap="square" lIns="0" rIns="0" tIns="0" bIns="0" anchor="t">
            <a:spAutoFit/>
          </a:bodyPr>
          <a:lstStyle/>
          <a:p>
            <a:pPr algn="l">
              <a:lnSpc>
                <a:spcPct val="115000"/>
              </a:lnSpc>
            </a:pPr>
            <a:r>
              <a:rPr sz="1500" b="1" i="0">
                <a:solidFill>
                  <a:srgbClr val="C0392B"/>
                </a:solidFill>
                <a:latin typeface="Calibri"/>
              </a:rPr>
              <a:t>118</a:t>
            </a:r>
          </a:p>
        </p:txBody>
      </p:sp>
      <p:sp>
        <p:nvSpPr>
          <p:cNvPr id="24" name="TextBox 23"/>
          <p:cNvSpPr txBox="1"/>
          <p:nvPr/>
        </p:nvSpPr>
        <p:spPr>
          <a:xfrm>
            <a:off x="3749040" y="3840480"/>
            <a:ext cx="1371600" cy="457200"/>
          </a:xfrm>
          <a:prstGeom prst="rect">
            <a:avLst/>
          </a:prstGeom>
          <a:noFill/>
        </p:spPr>
        <p:txBody>
          <a:bodyPr wrap="square" lIns="0" rIns="0" tIns="0" bIns="0" anchor="t">
            <a:spAutoFit/>
          </a:bodyPr>
          <a:lstStyle/>
          <a:p>
            <a:pPr algn="l">
              <a:lnSpc>
                <a:spcPct val="115000"/>
              </a:lnSpc>
            </a:pPr>
            <a:r>
              <a:rPr sz="1500" b="1" i="0">
                <a:solidFill>
                  <a:srgbClr val="C0392B"/>
                </a:solidFill>
                <a:latin typeface="Calibri"/>
              </a:rPr>
              <a:t>3.4%</a:t>
            </a:r>
          </a:p>
        </p:txBody>
      </p:sp>
      <p:sp>
        <p:nvSpPr>
          <p:cNvPr id="25" name="TextBox 24"/>
          <p:cNvSpPr txBox="1"/>
          <p:nvPr/>
        </p:nvSpPr>
        <p:spPr>
          <a:xfrm>
            <a:off x="5212080" y="3840480"/>
            <a:ext cx="1371600" cy="457200"/>
          </a:xfrm>
          <a:prstGeom prst="rect">
            <a:avLst/>
          </a:prstGeom>
          <a:noFill/>
        </p:spPr>
        <p:txBody>
          <a:bodyPr wrap="square" lIns="0" rIns="0" tIns="0" bIns="0" anchor="t">
            <a:spAutoFit/>
          </a:bodyPr>
          <a:lstStyle/>
          <a:p>
            <a:pPr algn="l">
              <a:lnSpc>
                <a:spcPct val="115000"/>
              </a:lnSpc>
            </a:pPr>
            <a:r>
              <a:rPr sz="1500" b="1" i="0">
                <a:solidFill>
                  <a:srgbClr val="C0392B"/>
                </a:solidFill>
                <a:latin typeface="Calibri"/>
              </a:rPr>
              <a:t>0.000</a:t>
            </a:r>
          </a:p>
        </p:txBody>
      </p:sp>
      <p:sp>
        <p:nvSpPr>
          <p:cNvPr id="26" name="TextBox 25"/>
          <p:cNvSpPr txBox="1"/>
          <p:nvPr/>
        </p:nvSpPr>
        <p:spPr>
          <a:xfrm>
            <a:off x="6675120" y="3840480"/>
            <a:ext cx="1280160" cy="457200"/>
          </a:xfrm>
          <a:prstGeom prst="rect">
            <a:avLst/>
          </a:prstGeom>
          <a:noFill/>
        </p:spPr>
        <p:txBody>
          <a:bodyPr wrap="square" lIns="0" rIns="0" tIns="0" bIns="0" anchor="t">
            <a:spAutoFit/>
          </a:bodyPr>
          <a:lstStyle/>
          <a:p>
            <a:pPr algn="l">
              <a:lnSpc>
                <a:spcPct val="115000"/>
              </a:lnSpc>
            </a:pPr>
            <a:r>
              <a:rPr sz="1500" b="1" i="0">
                <a:solidFill>
                  <a:srgbClr val="C0392B"/>
                </a:solidFill>
                <a:latin typeface="Calibri"/>
              </a:rPr>
              <a:t>0.00</a:t>
            </a:r>
          </a:p>
        </p:txBody>
      </p:sp>
      <p:sp>
        <p:nvSpPr>
          <p:cNvPr id="27" name="TextBox 26"/>
          <p:cNvSpPr txBox="1"/>
          <p:nvPr/>
        </p:nvSpPr>
        <p:spPr>
          <a:xfrm>
            <a:off x="822960" y="4754880"/>
            <a:ext cx="6949439" cy="365760"/>
          </a:xfrm>
          <a:prstGeom prst="rect">
            <a:avLst/>
          </a:prstGeom>
          <a:noFill/>
        </p:spPr>
        <p:txBody>
          <a:bodyPr wrap="square" lIns="0" rIns="0" tIns="0" bIns="0" anchor="t">
            <a:spAutoFit/>
          </a:bodyPr>
          <a:lstStyle/>
          <a:p>
            <a:pPr algn="l">
              <a:lnSpc>
                <a:spcPct val="115000"/>
              </a:lnSpc>
            </a:pPr>
            <a:r>
              <a:rPr sz="1400" b="0" i="1">
                <a:solidFill>
                  <a:srgbClr val="C0392B"/>
                </a:solidFill>
                <a:latin typeface="Calibri"/>
              </a:rPr>
              <a:t>On Type H machines, the model caught 0 of 4 failures.</a:t>
            </a:r>
          </a:p>
        </p:txBody>
      </p:sp>
      <p:sp>
        <p:nvSpPr>
          <p:cNvPr id="28" name="Rectangle 27"/>
          <p:cNvSpPr/>
          <p:nvPr/>
        </p:nvSpPr>
        <p:spPr>
          <a:xfrm>
            <a:off x="8229600" y="1280160"/>
            <a:ext cx="3520440" cy="40233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1508760"/>
            <a:ext cx="30632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Cambria"/>
              </a:rPr>
              <a:t>Why this matters</a:t>
            </a:r>
          </a:p>
        </p:txBody>
      </p:sp>
      <p:sp>
        <p:nvSpPr>
          <p:cNvPr id="30" name="TextBox 29"/>
          <p:cNvSpPr txBox="1"/>
          <p:nvPr/>
        </p:nvSpPr>
        <p:spPr>
          <a:xfrm>
            <a:off x="8458200" y="2057400"/>
            <a:ext cx="3063240" cy="3108960"/>
          </a:xfrm>
          <a:prstGeom prst="rect">
            <a:avLst/>
          </a:prstGeom>
          <a:noFill/>
        </p:spPr>
        <p:txBody>
          <a:bodyPr wrap="square" lIns="0" rIns="0" tIns="0" bIns="0" anchor="t">
            <a:spAutoFit/>
          </a:bodyPr>
          <a:lstStyle/>
          <a:p>
            <a:pPr algn="l">
              <a:lnSpc>
                <a:spcPct val="135000"/>
              </a:lnSpc>
            </a:pPr>
            <a:r>
              <a:rPr sz="1200" b="0" i="0">
                <a:solidFill>
                  <a:srgbClr val="F2F4F7"/>
                </a:solidFill>
                <a:latin typeface="Calibri"/>
              </a:rPr>
              <a:t>H is the smallest grade: 118 of the 1,501 validation machines. With four real failures in validation, the model has almost nothing to learn from. The result generalizes: any deployment plan would need stratified sampling, a separate H-specific model, or an explicit out-of-scope flag for that grade.</a:t>
            </a:r>
          </a:p>
        </p:txBody>
      </p:sp>
      <p:sp>
        <p:nvSpPr>
          <p:cNvPr id="31" name="TextBox 30"/>
          <p:cNvSpPr txBox="1"/>
          <p:nvPr/>
        </p:nvSpPr>
        <p:spPr>
          <a:xfrm>
            <a:off x="548640" y="5577840"/>
            <a:ext cx="11064240" cy="548640"/>
          </a:xfrm>
          <a:prstGeom prst="rect">
            <a:avLst/>
          </a:prstGeom>
          <a:noFill/>
        </p:spPr>
        <p:txBody>
          <a:bodyPr wrap="square" lIns="0" rIns="0" tIns="0" bIns="0" anchor="t">
            <a:spAutoFit/>
          </a:bodyPr>
          <a:lstStyle/>
          <a:p>
            <a:pPr algn="l">
              <a:lnSpc>
                <a:spcPct val="115000"/>
              </a:lnSpc>
            </a:pPr>
            <a:r>
              <a:rPr sz="1400" b="0" i="1">
                <a:solidFill>
                  <a:srgbClr val="21295C"/>
                </a:solidFill>
                <a:latin typeface="Calibri"/>
              </a:rPr>
              <a:t>Took the proposal's fairness check seriously and it surfaced a real problem, not a checkbox.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640080"/>
          </a:xfrm>
          <a:prstGeom prst="rect">
            <a:avLst/>
          </a:prstGeom>
          <a:noFill/>
        </p:spPr>
        <p:txBody>
          <a:bodyPr wrap="square" lIns="0" rIns="0" tIns="0" bIns="0" anchor="t">
            <a:spAutoFit/>
          </a:bodyPr>
          <a:lstStyle/>
          <a:p>
            <a:pPr algn="l">
              <a:lnSpc>
                <a:spcPct val="115000"/>
              </a:lnSpc>
            </a:pPr>
            <a:r>
              <a:rPr sz="3200" b="1" i="0">
                <a:solidFill>
                  <a:srgbClr val="FFFFFF"/>
                </a:solidFill>
                <a:latin typeface="Cambria"/>
              </a:rPr>
              <a:t>Reflection and next steps</a:t>
            </a:r>
          </a:p>
        </p:txBody>
      </p:sp>
      <p:sp>
        <p:nvSpPr>
          <p:cNvPr id="4" name="Rectangle 3"/>
          <p:cNvSpPr/>
          <p:nvPr/>
        </p:nvSpPr>
        <p:spPr>
          <a:xfrm>
            <a:off x="548640" y="1371600"/>
            <a:ext cx="3657600" cy="2377440"/>
          </a:xfrm>
          <a:prstGeom prst="rect">
            <a:avLst/>
          </a:prstGeom>
          <a:solidFill>
            <a:srgbClr val="2D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73152" cy="2377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54480"/>
            <a:ext cx="32004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Cambria"/>
              </a:rPr>
              <a:t>What I learned</a:t>
            </a:r>
          </a:p>
        </p:txBody>
      </p:sp>
      <p:sp>
        <p:nvSpPr>
          <p:cNvPr id="7" name="TextBox 6"/>
          <p:cNvSpPr txBox="1"/>
          <p:nvPr/>
        </p:nvSpPr>
        <p:spPr>
          <a:xfrm>
            <a:off x="822960" y="2057400"/>
            <a:ext cx="3200400" cy="1554480"/>
          </a:xfrm>
          <a:prstGeom prst="rect">
            <a:avLst/>
          </a:prstGeom>
          <a:noFill/>
        </p:spPr>
        <p:txBody>
          <a:bodyPr wrap="square" lIns="0" rIns="0" tIns="0" bIns="0" anchor="t">
            <a:spAutoFit/>
          </a:bodyPr>
          <a:lstStyle/>
          <a:p>
            <a:pPr algn="l">
              <a:lnSpc>
                <a:spcPct val="135000"/>
              </a:lnSpc>
            </a:pPr>
            <a:r>
              <a:rPr sz="1200" b="0" i="0">
                <a:solidFill>
                  <a:srgbClr val="F2F4F7"/>
                </a:solidFill>
                <a:latin typeface="Calibri"/>
              </a:rPr>
              <a:t>The model mattered more than the threshold. In cross-validation the booster's PR-AUC was 0.76 against 0.59 for the decision tree, and tuning only moved the cutoff from 0.5 to 0.496. PR-AUC split the models far more clearly than ROC-AUC.</a:t>
            </a:r>
          </a:p>
        </p:txBody>
      </p:sp>
      <p:sp>
        <p:nvSpPr>
          <p:cNvPr id="8" name="Rectangle 7"/>
          <p:cNvSpPr/>
          <p:nvPr/>
        </p:nvSpPr>
        <p:spPr>
          <a:xfrm>
            <a:off x="4343400" y="1371600"/>
            <a:ext cx="3657600" cy="2377440"/>
          </a:xfrm>
          <a:prstGeom prst="rect">
            <a:avLst/>
          </a:prstGeom>
          <a:solidFill>
            <a:srgbClr val="2D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371600"/>
            <a:ext cx="73152" cy="2377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554480"/>
            <a:ext cx="32004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Cambria"/>
              </a:rPr>
              <a:t>Hardest decision</a:t>
            </a:r>
          </a:p>
        </p:txBody>
      </p:sp>
      <p:sp>
        <p:nvSpPr>
          <p:cNvPr id="11" name="TextBox 10"/>
          <p:cNvSpPr txBox="1"/>
          <p:nvPr/>
        </p:nvSpPr>
        <p:spPr>
          <a:xfrm>
            <a:off x="4617720" y="2057400"/>
            <a:ext cx="3200400" cy="1554480"/>
          </a:xfrm>
          <a:prstGeom prst="rect">
            <a:avLst/>
          </a:prstGeom>
          <a:noFill/>
        </p:spPr>
        <p:txBody>
          <a:bodyPr wrap="square" lIns="0" rIns="0" tIns="0" bIns="0" anchor="t">
            <a:spAutoFit/>
          </a:bodyPr>
          <a:lstStyle/>
          <a:p>
            <a:pPr algn="l">
              <a:lnSpc>
                <a:spcPct val="135000"/>
              </a:lnSpc>
            </a:pPr>
            <a:r>
              <a:rPr sz="1200" b="0" i="0">
                <a:solidFill>
                  <a:srgbClr val="F2F4F7"/>
                </a:solidFill>
                <a:latin typeface="Calibri"/>
              </a:rPr>
              <a:t>Choosing the failure threshold. F1-max on validation picked 0.496, close to the default 0.5, and lifted validation recall from 0.588 to 0.608 without needing a cost ratio I couldn't justify on synthetic data.</a:t>
            </a:r>
          </a:p>
        </p:txBody>
      </p:sp>
      <p:sp>
        <p:nvSpPr>
          <p:cNvPr id="12" name="Rectangle 11"/>
          <p:cNvSpPr/>
          <p:nvPr/>
        </p:nvSpPr>
        <p:spPr>
          <a:xfrm>
            <a:off x="8138160" y="1371600"/>
            <a:ext cx="3657600" cy="2377440"/>
          </a:xfrm>
          <a:prstGeom prst="rect">
            <a:avLst/>
          </a:prstGeom>
          <a:solidFill>
            <a:srgbClr val="2D3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371600"/>
            <a:ext cx="73152" cy="23774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54480"/>
            <a:ext cx="3200400" cy="457200"/>
          </a:xfrm>
          <a:prstGeom prst="rect">
            <a:avLst/>
          </a:prstGeom>
          <a:noFill/>
        </p:spPr>
        <p:txBody>
          <a:bodyPr wrap="square" lIns="0" rIns="0" tIns="0" bIns="0" anchor="t">
            <a:spAutoFit/>
          </a:bodyPr>
          <a:lstStyle/>
          <a:p>
            <a:pPr algn="l">
              <a:lnSpc>
                <a:spcPct val="115000"/>
              </a:lnSpc>
            </a:pPr>
            <a:r>
              <a:rPr sz="1600" b="1" i="0">
                <a:solidFill>
                  <a:srgbClr val="FFFFFF"/>
                </a:solidFill>
                <a:latin typeface="Cambria"/>
              </a:rPr>
              <a:t>Honest limitation</a:t>
            </a:r>
          </a:p>
        </p:txBody>
      </p:sp>
      <p:sp>
        <p:nvSpPr>
          <p:cNvPr id="15" name="TextBox 14"/>
          <p:cNvSpPr txBox="1"/>
          <p:nvPr/>
        </p:nvSpPr>
        <p:spPr>
          <a:xfrm>
            <a:off x="8412480" y="2057400"/>
            <a:ext cx="3200400" cy="1554480"/>
          </a:xfrm>
          <a:prstGeom prst="rect">
            <a:avLst/>
          </a:prstGeom>
          <a:noFill/>
        </p:spPr>
        <p:txBody>
          <a:bodyPr wrap="square" lIns="0" rIns="0" tIns="0" bIns="0" anchor="t">
            <a:spAutoFit/>
          </a:bodyPr>
          <a:lstStyle/>
          <a:p>
            <a:pPr algn="l">
              <a:lnSpc>
                <a:spcPct val="135000"/>
              </a:lnSpc>
            </a:pPr>
            <a:r>
              <a:rPr sz="1200" b="0" i="0">
                <a:solidFill>
                  <a:srgbClr val="F2F4F7"/>
                </a:solidFill>
                <a:latin typeface="Calibri"/>
              </a:rPr>
              <a:t>AI4I 2020 is synthetic. Feature distributions and failure logic are generated, not measured. The model is a credible result on this dataset but not a guarantee on a real shop floor with sensor noise and timing offsets.</a:t>
            </a:r>
          </a:p>
        </p:txBody>
      </p:sp>
      <p:sp>
        <p:nvSpPr>
          <p:cNvPr id="16" name="TextBox 15"/>
          <p:cNvSpPr txBox="1"/>
          <p:nvPr/>
        </p:nvSpPr>
        <p:spPr>
          <a:xfrm>
            <a:off x="548640" y="4069080"/>
            <a:ext cx="11064240" cy="457200"/>
          </a:xfrm>
          <a:prstGeom prst="rect">
            <a:avLst/>
          </a:prstGeom>
          <a:noFill/>
        </p:spPr>
        <p:txBody>
          <a:bodyPr wrap="square" lIns="0" rIns="0" tIns="0" bIns="0" anchor="t">
            <a:spAutoFit/>
          </a:bodyPr>
          <a:lstStyle/>
          <a:p>
            <a:pPr algn="l">
              <a:lnSpc>
                <a:spcPct val="115000"/>
              </a:lnSpc>
            </a:pPr>
            <a:r>
              <a:rPr sz="2200" b="1" i="0">
                <a:solidFill>
                  <a:srgbClr val="FFFFFF"/>
                </a:solidFill>
                <a:latin typeface="Cambria"/>
              </a:rPr>
              <a:t>Next steps</a:t>
            </a:r>
          </a:p>
        </p:txBody>
      </p:sp>
      <p:sp>
        <p:nvSpPr>
          <p:cNvPr id="17" name="Rectangle 16"/>
          <p:cNvSpPr/>
          <p:nvPr/>
        </p:nvSpPr>
        <p:spPr>
          <a:xfrm>
            <a:off x="548640" y="4617720"/>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672584"/>
            <a:ext cx="365760"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mbria"/>
              </a:rPr>
              <a:t>1</a:t>
            </a:r>
          </a:p>
        </p:txBody>
      </p:sp>
      <p:sp>
        <p:nvSpPr>
          <p:cNvPr id="19" name="TextBox 18"/>
          <p:cNvSpPr txBox="1"/>
          <p:nvPr/>
        </p:nvSpPr>
        <p:spPr>
          <a:xfrm>
            <a:off x="1188720" y="4617720"/>
            <a:ext cx="4937760" cy="365760"/>
          </a:xfrm>
          <a:prstGeom prst="rect">
            <a:avLst/>
          </a:prstGeom>
          <a:noFill/>
        </p:spPr>
        <p:txBody>
          <a:bodyPr wrap="square" lIns="0" rIns="0" tIns="0" bIns="0" anchor="t">
            <a:spAutoFit/>
          </a:bodyPr>
          <a:lstStyle/>
          <a:p>
            <a:pPr algn="l">
              <a:lnSpc>
                <a:spcPct val="115000"/>
              </a:lnSpc>
            </a:pPr>
            <a:r>
              <a:rPr sz="1400" b="1" i="0">
                <a:solidFill>
                  <a:srgbClr val="FFFFFF"/>
                </a:solidFill>
                <a:latin typeface="Cambria"/>
              </a:rPr>
              <a:t>Real data</a:t>
            </a:r>
          </a:p>
        </p:txBody>
      </p:sp>
      <p:sp>
        <p:nvSpPr>
          <p:cNvPr id="20" name="TextBox 19"/>
          <p:cNvSpPr txBox="1"/>
          <p:nvPr/>
        </p:nvSpPr>
        <p:spPr>
          <a:xfrm>
            <a:off x="1188720" y="4983480"/>
            <a:ext cx="4937760" cy="548640"/>
          </a:xfrm>
          <a:prstGeom prst="rect">
            <a:avLst/>
          </a:prstGeom>
          <a:noFill/>
        </p:spPr>
        <p:txBody>
          <a:bodyPr wrap="square" lIns="0" rIns="0" tIns="0" bIns="0" anchor="t">
            <a:spAutoFit/>
          </a:bodyPr>
          <a:lstStyle/>
          <a:p>
            <a:pPr algn="l">
              <a:lnSpc>
                <a:spcPct val="130000"/>
              </a:lnSpc>
            </a:pPr>
            <a:r>
              <a:rPr sz="1100" b="0" i="0">
                <a:solidFill>
                  <a:srgbClr val="F2F4F7"/>
                </a:solidFill>
                <a:latin typeface="Calibri"/>
              </a:rPr>
              <a:t>Validate against NASA C-MAPSS or PHM Society datasets to test transfer.</a:t>
            </a:r>
          </a:p>
        </p:txBody>
      </p:sp>
      <p:sp>
        <p:nvSpPr>
          <p:cNvPr id="21" name="Rectangle 20"/>
          <p:cNvSpPr/>
          <p:nvPr/>
        </p:nvSpPr>
        <p:spPr>
          <a:xfrm>
            <a:off x="6355080" y="4617720"/>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672584"/>
            <a:ext cx="365760"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mbria"/>
              </a:rPr>
              <a:t>2</a:t>
            </a:r>
          </a:p>
        </p:txBody>
      </p:sp>
      <p:sp>
        <p:nvSpPr>
          <p:cNvPr id="23" name="TextBox 22"/>
          <p:cNvSpPr txBox="1"/>
          <p:nvPr/>
        </p:nvSpPr>
        <p:spPr>
          <a:xfrm>
            <a:off x="6995160" y="4617720"/>
            <a:ext cx="4937760" cy="365760"/>
          </a:xfrm>
          <a:prstGeom prst="rect">
            <a:avLst/>
          </a:prstGeom>
          <a:noFill/>
        </p:spPr>
        <p:txBody>
          <a:bodyPr wrap="square" lIns="0" rIns="0" tIns="0" bIns="0" anchor="t">
            <a:spAutoFit/>
          </a:bodyPr>
          <a:lstStyle/>
          <a:p>
            <a:pPr algn="l">
              <a:lnSpc>
                <a:spcPct val="115000"/>
              </a:lnSpc>
            </a:pPr>
            <a:r>
              <a:rPr sz="1400" b="1" i="0">
                <a:solidFill>
                  <a:srgbClr val="FFFFFF"/>
                </a:solidFill>
                <a:latin typeface="Cambria"/>
              </a:rPr>
              <a:t>Cost-based threshold</a:t>
            </a:r>
          </a:p>
        </p:txBody>
      </p:sp>
      <p:sp>
        <p:nvSpPr>
          <p:cNvPr id="24" name="TextBox 23"/>
          <p:cNvSpPr txBox="1"/>
          <p:nvPr/>
        </p:nvSpPr>
        <p:spPr>
          <a:xfrm>
            <a:off x="6995160" y="4983480"/>
            <a:ext cx="4937760" cy="548640"/>
          </a:xfrm>
          <a:prstGeom prst="rect">
            <a:avLst/>
          </a:prstGeom>
          <a:noFill/>
        </p:spPr>
        <p:txBody>
          <a:bodyPr wrap="square" lIns="0" rIns="0" tIns="0" bIns="0" anchor="t">
            <a:spAutoFit/>
          </a:bodyPr>
          <a:lstStyle/>
          <a:p>
            <a:pPr algn="l">
              <a:lnSpc>
                <a:spcPct val="130000"/>
              </a:lnSpc>
            </a:pPr>
            <a:r>
              <a:rPr sz="1100" b="0" i="0">
                <a:solidFill>
                  <a:srgbClr val="F2F4F7"/>
                </a:solidFill>
                <a:latin typeface="Calibri"/>
              </a:rPr>
              <a:t>Replace F1-max with a threshold tied to documented FN vs FP costs.</a:t>
            </a:r>
          </a:p>
        </p:txBody>
      </p:sp>
      <p:sp>
        <p:nvSpPr>
          <p:cNvPr id="25" name="Rectangle 24"/>
          <p:cNvSpPr/>
          <p:nvPr/>
        </p:nvSpPr>
        <p:spPr>
          <a:xfrm>
            <a:off x="548640" y="5577840"/>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632704"/>
            <a:ext cx="365760"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mbria"/>
              </a:rPr>
              <a:t>3</a:t>
            </a:r>
          </a:p>
        </p:txBody>
      </p:sp>
      <p:sp>
        <p:nvSpPr>
          <p:cNvPr id="27" name="TextBox 26"/>
          <p:cNvSpPr txBox="1"/>
          <p:nvPr/>
        </p:nvSpPr>
        <p:spPr>
          <a:xfrm>
            <a:off x="1188720" y="5577840"/>
            <a:ext cx="4937760" cy="365760"/>
          </a:xfrm>
          <a:prstGeom prst="rect">
            <a:avLst/>
          </a:prstGeom>
          <a:noFill/>
        </p:spPr>
        <p:txBody>
          <a:bodyPr wrap="square" lIns="0" rIns="0" tIns="0" bIns="0" anchor="t">
            <a:spAutoFit/>
          </a:bodyPr>
          <a:lstStyle/>
          <a:p>
            <a:pPr algn="l">
              <a:lnSpc>
                <a:spcPct val="115000"/>
              </a:lnSpc>
            </a:pPr>
            <a:r>
              <a:rPr sz="1400" b="1" i="0">
                <a:solidFill>
                  <a:srgbClr val="FFFFFF"/>
                </a:solidFill>
                <a:latin typeface="Cambria"/>
              </a:rPr>
              <a:t>Type H repair</a:t>
            </a:r>
          </a:p>
        </p:txBody>
      </p:sp>
      <p:sp>
        <p:nvSpPr>
          <p:cNvPr id="28" name="TextBox 27"/>
          <p:cNvSpPr txBox="1"/>
          <p:nvPr/>
        </p:nvSpPr>
        <p:spPr>
          <a:xfrm>
            <a:off x="1188720" y="5943600"/>
            <a:ext cx="4937760" cy="548640"/>
          </a:xfrm>
          <a:prstGeom prst="rect">
            <a:avLst/>
          </a:prstGeom>
          <a:noFill/>
        </p:spPr>
        <p:txBody>
          <a:bodyPr wrap="square" lIns="0" rIns="0" tIns="0" bIns="0" anchor="t">
            <a:spAutoFit/>
          </a:bodyPr>
          <a:lstStyle/>
          <a:p>
            <a:pPr algn="l">
              <a:lnSpc>
                <a:spcPct val="130000"/>
              </a:lnSpc>
            </a:pPr>
            <a:r>
              <a:rPr sz="1100" b="0" i="0">
                <a:solidFill>
                  <a:srgbClr val="F2F4F7"/>
                </a:solidFill>
                <a:latin typeface="Calibri"/>
              </a:rPr>
              <a:t>Stratified resampling, an H-specific model, or an explicit out-of-scope flag.</a:t>
            </a:r>
          </a:p>
        </p:txBody>
      </p:sp>
      <p:sp>
        <p:nvSpPr>
          <p:cNvPr id="29" name="Rectangle 28"/>
          <p:cNvSpPr/>
          <p:nvPr/>
        </p:nvSpPr>
        <p:spPr>
          <a:xfrm>
            <a:off x="6355080" y="5577840"/>
            <a:ext cx="457200" cy="4572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5632704"/>
            <a:ext cx="365760" cy="365760"/>
          </a:xfrm>
          <a:prstGeom prst="rect">
            <a:avLst/>
          </a:prstGeom>
          <a:noFill/>
        </p:spPr>
        <p:txBody>
          <a:bodyPr wrap="square" lIns="0" rIns="0" tIns="0" bIns="0" anchor="t">
            <a:spAutoFit/>
          </a:bodyPr>
          <a:lstStyle/>
          <a:p>
            <a:pPr algn="ctr">
              <a:lnSpc>
                <a:spcPct val="115000"/>
              </a:lnSpc>
            </a:pPr>
            <a:r>
              <a:rPr sz="1800" b="1" i="0">
                <a:solidFill>
                  <a:srgbClr val="FFFFFF"/>
                </a:solidFill>
                <a:latin typeface="Cambria"/>
              </a:rPr>
              <a:t>4</a:t>
            </a:r>
          </a:p>
        </p:txBody>
      </p:sp>
      <p:sp>
        <p:nvSpPr>
          <p:cNvPr id="31" name="TextBox 30"/>
          <p:cNvSpPr txBox="1"/>
          <p:nvPr/>
        </p:nvSpPr>
        <p:spPr>
          <a:xfrm>
            <a:off x="6995160" y="5577840"/>
            <a:ext cx="4937760" cy="365760"/>
          </a:xfrm>
          <a:prstGeom prst="rect">
            <a:avLst/>
          </a:prstGeom>
          <a:noFill/>
        </p:spPr>
        <p:txBody>
          <a:bodyPr wrap="square" lIns="0" rIns="0" tIns="0" bIns="0" anchor="t">
            <a:spAutoFit/>
          </a:bodyPr>
          <a:lstStyle/>
          <a:p>
            <a:pPr algn="l">
              <a:lnSpc>
                <a:spcPct val="115000"/>
              </a:lnSpc>
            </a:pPr>
            <a:r>
              <a:rPr sz="1400" b="1" i="0">
                <a:solidFill>
                  <a:srgbClr val="FFFFFF"/>
                </a:solidFill>
                <a:latin typeface="Cambria"/>
              </a:rPr>
              <a:t>Drift monitoring</a:t>
            </a:r>
          </a:p>
        </p:txBody>
      </p:sp>
      <p:sp>
        <p:nvSpPr>
          <p:cNvPr id="32" name="TextBox 31"/>
          <p:cNvSpPr txBox="1"/>
          <p:nvPr/>
        </p:nvSpPr>
        <p:spPr>
          <a:xfrm>
            <a:off x="6995160" y="5943600"/>
            <a:ext cx="4937760" cy="548640"/>
          </a:xfrm>
          <a:prstGeom prst="rect">
            <a:avLst/>
          </a:prstGeom>
          <a:noFill/>
        </p:spPr>
        <p:txBody>
          <a:bodyPr wrap="square" lIns="0" rIns="0" tIns="0" bIns="0" anchor="t">
            <a:spAutoFit/>
          </a:bodyPr>
          <a:lstStyle/>
          <a:p>
            <a:pPr algn="l">
              <a:lnSpc>
                <a:spcPct val="130000"/>
              </a:lnSpc>
            </a:pPr>
            <a:r>
              <a:rPr sz="1100" b="0" i="0">
                <a:solidFill>
                  <a:srgbClr val="F2F4F7"/>
                </a:solidFill>
                <a:latin typeface="Calibri"/>
              </a:rPr>
              <a:t>Add input-feature drift checks and a recalibration trigger in production.</a:t>
            </a:r>
          </a:p>
        </p:txBody>
      </p:sp>
      <p:sp>
        <p:nvSpPr>
          <p:cNvPr id="33" name="TextBox 32"/>
          <p:cNvSpPr txBox="1"/>
          <p:nvPr/>
        </p:nvSpPr>
        <p:spPr>
          <a:xfrm>
            <a:off x="548640" y="6537960"/>
            <a:ext cx="11064240" cy="274320"/>
          </a:xfrm>
          <a:prstGeom prst="rect">
            <a:avLst/>
          </a:prstGeom>
          <a:noFill/>
        </p:spPr>
        <p:txBody>
          <a:bodyPr wrap="square" lIns="0" rIns="0" tIns="0" bIns="0" anchor="t">
            <a:spAutoFit/>
          </a:bodyPr>
          <a:lstStyle/>
          <a:p>
            <a:pPr algn="l">
              <a:lnSpc>
                <a:spcPct val="115000"/>
              </a:lnSpc>
            </a:pPr>
            <a:r>
              <a:rPr sz="1200" b="0" i="1">
                <a:solidFill>
                  <a:srgbClr val="1C7293"/>
                </a:solidFill>
                <a:latin typeface="Calibri"/>
              </a:rPr>
              <a:t>github.com/drewmenning/ai4i-predictive-maintenance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Machine Failures on the AI4I 2020 Dataset</dc:title>
  <dc:subject/>
  <dc:creator>Drew Menning</dc:creator>
  <cp:keywords/>
  <dc:description>generated using python-pptx</dc:description>
  <cp:lastModifiedBy>Drew Menning</cp:lastModifiedBy>
  <cp:revision>1</cp:revision>
  <dcterms:created xsi:type="dcterms:W3CDTF">2026-10-14T20:15:42Z</dcterms:created>
  <dcterms:modified xsi:type="dcterms:W3CDTF">2026-10-14T20:15:42Z</dcterms:modified>
  <cp:category/>
</cp:coreProperties>
</file>